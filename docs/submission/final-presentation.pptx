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final capstone presentation for the Construction Progress Dashboard. Over the past 12 weeks, we engineered both an enterprise Spring Boot web application and an automated DevOps delivery pipeline integrating Gitflow, Jenkins, Selenium quality gates, Docker containerization, and Ansible continuous deployment.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construction management, site delays compound because information is siloed in paper logs. Our objective was two-fold: build a collaborative tracking dashboard, and establish an industrial-grade DevOps delivery pipeline ensuring code is continuously tested, containerized, and deployed without manual human intervention.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application provides field engineers with simple task logging, while giving project managers real-time KPI cards and overdue alerts. Crucially, Spring Security 6 provides role-based access control, securing admin and manager workflows while exposing a public health actuator endpoint for CI/CD synthetic monitoring.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architecture follows strict enterprise tier separation. Business rules like automatic percentage calculation live strictly in the service layer. The relational schema links projects to tasks in a 1-to-many relationship, with JPA specifications enabling dynamic search queries without hand-crafted SQL.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executed development over 6 structured sprints across 12 weeks. Sprint 2 delivered our functional baseline v1.0.0, after which Sprints 3 through 6 focused exclusively on automation: Jenkins pipelines, Selenium quality gates, Docker containerization, and Ansible orchestration.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Gitflow model protected main while keeping develop active. In Week 6, we demonstrated real-world conflict resolution when two parallel feature branches modified navbar.html; we resolved the conflict locally, verified both features worked, and merged cleanly.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Jenkins pipeline codifies the entire path from commit to production across 10 discrete stages. Every build generates an immutable Docker tag linked to the exact Git commit SHA. Notice that deployment only occurs after both unit tests and browser quality gates have passed.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 5 in Jenkins executes automated browser testing with Headless Chrome. In Week 10, we proved the quality gate protects production: when an intentional UI defect was introduced, the Selenium stage failed, and Jenkins aborted the pipeline, completely skipping Docker and deploy stages.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Dockerfile uses multi-stage builds: build tools remain in stage 1, while stage 2 copies only the WAR into a minimal JRE. The container runs as unprivileged appuser (UID 10001) for host security, and the image is promoted to :stable only after live verification.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Ansible manages the target Ubuntu server agentlessly over SSH. We built six modular roles plus a deployment role. Instead of running bare docker containers, we supervise the container using a native systemd unit with Restart=always, hardened under UFW firewall rules.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Reliability is proven in two ways. First, idempotency: re-running provision.yml yields changed=0. Second, automated rollback: when deploying a defective test image, Ansible caught the health check failure, triggered the rescue block, and restored the previous stable container in under 48 seconds.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our real empirical metrics. In Build #3, a single Git commit flowed through compilation, 58 unit tests, packaging, 88 seconds of Selenium browser testing, Docker building, and Ansible deployment in exactly 3 minutes and 35 seconds.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overcame 15 real-world technical challenges across the 12 weeks, from headless Chrome crashes in non-interactive CI agents to permission handling in unprivileged containers. The biggest takeaway was the necessity of separating fast unit tests from slower browser quality gates.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While our dev profile uses an in-memory H2 database, our roadmap prioritizes PostgreSQL, Let's Encrypt TLS, and Prometheus metrics. All deliverables, code, and evidence logs are published in our repository under releases v1.0.0 and v1.1.0. Thank you, and I look forward to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332720" cy="3474720"/>
          </a:xfrm>
          <a:prstGeom prst="rect">
            <a:avLst/>
          </a:prstGeom>
          <a:noFill/>
        </p:spPr>
        <p:txBody>
          <a:bodyPr wrap="square">
            <a:spAutoFit/>
          </a:bodyPr>
          <a:lstStyle/>
          <a:p>
            <a:pPr>
              <a:defRPr sz="3600" b="1">
                <a:solidFill>
                  <a:srgbClr val="FFFFFF"/>
                </a:solidFill>
              </a:defRPr>
            </a:pPr>
            <a:r>
              <a:t>Construction Progress Dashboard</a:t>
            </a:r>
          </a:p>
          <a:p>
            <a:pPr>
              <a:spcBef>
                <a:spcPts val="1200"/>
              </a:spcBef>
              <a:defRPr sz="1800">
                <a:solidFill>
                  <a:srgbClr val="94A3B8"/>
                </a:solidFill>
              </a:defRPr>
            </a:pPr>
            <a:r>
              <a:t>End-to-End DevOps Lifecycle: Automated Quality Gates, Docker Containers &amp; Ansible CD</a:t>
            </a:r>
          </a:p>
          <a:p>
            <a:pPr>
              <a:spcBef>
                <a:spcPts val="2800"/>
              </a:spcBef>
              <a:defRPr sz="1300">
                <a:solidFill>
                  <a:srgbClr val="10B981"/>
                </a:solidFill>
              </a:defRPr>
            </a:pPr>
            <a:r>
              <a:t>Author: Ganesh Dahiphale  |  DevOps Final Capstone (Week 15)  |  Release v1.1.0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2563EB"/>
                </a:solidFill>
              </a:defRPr>
            </a:pPr>
            <a:r>
              <a:t>CONSTRUCTION PROGRESS DASHBOARD — DEVOPS CAPSTONE</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1E293B"/>
                </a:solidFill>
              </a:defRPr>
            </a:pPr>
            <a:r>
              <a:t>Problem Statement &amp; Strategic Engineering Objectives</a:t>
            </a:r>
          </a:p>
        </p:txBody>
      </p:sp>
      <p:sp>
        <p:nvSpPr>
          <p:cNvPr id="4" name="Rounded Rectangle 3"/>
          <p:cNvSpPr/>
          <p:nvPr/>
        </p:nvSpPr>
        <p:spPr>
          <a:xfrm>
            <a:off x="731520" y="1463040"/>
            <a:ext cx="512064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4754880" cy="4480560"/>
          </a:xfrm>
          <a:prstGeom prst="rect">
            <a:avLst/>
          </a:prstGeom>
          <a:noFill/>
        </p:spPr>
        <p:txBody>
          <a:bodyPr wrap="square">
            <a:spAutoFit/>
          </a:bodyPr>
          <a:lstStyle/>
          <a:p>
            <a:pPr>
              <a:defRPr sz="1400" b="1">
                <a:solidFill>
                  <a:srgbClr val="1E3A8A"/>
                </a:solidFill>
              </a:defRPr>
            </a:pPr>
            <a:r>
              <a:t>The Construction Industry Problem</a:t>
            </a:r>
          </a:p>
          <a:p>
            <a:pPr>
              <a:spcBef>
                <a:spcPts val="400"/>
              </a:spcBef>
              <a:defRPr sz="1100">
                <a:solidFill>
                  <a:srgbClr val="1E293B"/>
                </a:solidFill>
              </a:defRPr>
            </a:pPr>
            <a:r>
              <a:t>• Severe visibility gap between jobsite field engineers and office executives.</a:t>
            </a:r>
          </a:p>
          <a:p>
            <a:pPr>
              <a:spcBef>
                <a:spcPts val="400"/>
              </a:spcBef>
              <a:defRPr sz="1100">
                <a:solidFill>
                  <a:srgbClr val="1E293B"/>
                </a:solidFill>
              </a:defRPr>
            </a:pPr>
            <a:r>
              <a:t>• Progress logged in paper diaries or isolated messaging threads.</a:t>
            </a:r>
          </a:p>
          <a:p>
            <a:pPr>
              <a:spcBef>
                <a:spcPts val="400"/>
              </a:spcBef>
              <a:defRPr sz="1100">
                <a:solidFill>
                  <a:srgbClr val="1E293B"/>
                </a:solidFill>
              </a:defRPr>
            </a:pPr>
            <a:r>
              <a:t>• Milestone delays and blocked activities discovered weeks after occurrence.</a:t>
            </a:r>
          </a:p>
          <a:p>
            <a:pPr>
              <a:spcBef>
                <a:spcPts val="400"/>
              </a:spcBef>
              <a:defRPr sz="1100">
                <a:solidFill>
                  <a:srgbClr val="1E293B"/>
                </a:solidFill>
              </a:defRPr>
            </a:pPr>
            <a:r>
              <a:t>• Manual, ad-hoc server deployments with zero rollback capability.</a:t>
            </a:r>
          </a:p>
          <a:p>
            <a:pPr>
              <a:spcBef>
                <a:spcPts val="400"/>
              </a:spcBef>
              <a:defRPr sz="1100">
                <a:solidFill>
                  <a:srgbClr val="1E293B"/>
                </a:solidFill>
              </a:defRPr>
            </a:pPr>
            <a:r>
              <a:t>• Fragile releases prone to production outages and regression defects.</a:t>
            </a:r>
          </a:p>
        </p:txBody>
      </p:sp>
      <p:sp>
        <p:nvSpPr>
          <p:cNvPr id="6" name="Rounded Rectangle 5"/>
          <p:cNvSpPr/>
          <p:nvPr/>
        </p:nvSpPr>
        <p:spPr>
          <a:xfrm>
            <a:off x="6217920" y="1463040"/>
            <a:ext cx="5120640" cy="475488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600200"/>
            <a:ext cx="4754880" cy="4480560"/>
          </a:xfrm>
          <a:prstGeom prst="rect">
            <a:avLst/>
          </a:prstGeom>
          <a:noFill/>
        </p:spPr>
        <p:txBody>
          <a:bodyPr wrap="square">
            <a:spAutoFit/>
          </a:bodyPr>
          <a:lstStyle/>
          <a:p>
            <a:pPr>
              <a:defRPr sz="1400" b="1">
                <a:solidFill>
                  <a:srgbClr val="2563EB"/>
                </a:solidFill>
              </a:defRPr>
            </a:pPr>
            <a:r>
              <a:t>DevOps Engineering Objectives</a:t>
            </a:r>
          </a:p>
          <a:p>
            <a:pPr>
              <a:spcBef>
                <a:spcPts val="400"/>
              </a:spcBef>
              <a:defRPr sz="1100">
                <a:solidFill>
                  <a:srgbClr val="1E293B"/>
                </a:solidFill>
              </a:defRPr>
            </a:pPr>
            <a:r>
              <a:t>• Deliver a robust full-stack Spring Boot 3 platform for real-time progress logging.</a:t>
            </a:r>
          </a:p>
          <a:p>
            <a:pPr>
              <a:spcBef>
                <a:spcPts val="400"/>
              </a:spcBef>
              <a:defRPr sz="1100">
                <a:solidFill>
                  <a:srgbClr val="1E293B"/>
                </a:solidFill>
              </a:defRPr>
            </a:pPr>
            <a:r>
              <a:t>• Enforce automated quality assurance via headless Selenium E2E browser tests.</a:t>
            </a:r>
          </a:p>
          <a:p>
            <a:pPr>
              <a:spcBef>
                <a:spcPts val="400"/>
              </a:spcBef>
              <a:defRPr sz="1100">
                <a:solidFill>
                  <a:srgbClr val="1E293B"/>
                </a:solidFill>
              </a:defRPr>
            </a:pPr>
            <a:r>
              <a:t>• Package production binaries into minimal, non-root Docker runtime images.</a:t>
            </a:r>
          </a:p>
          <a:p>
            <a:pPr>
              <a:spcBef>
                <a:spcPts val="400"/>
              </a:spcBef>
              <a:defRPr sz="1100">
                <a:solidFill>
                  <a:srgbClr val="1E293B"/>
                </a:solidFill>
              </a:defRPr>
            </a:pPr>
            <a:r>
              <a:t>• Orchestrate idempotent server configuration and deployments with Ansible.</a:t>
            </a:r>
          </a:p>
          <a:p>
            <a:pPr>
              <a:spcBef>
                <a:spcPts val="400"/>
              </a:spcBef>
              <a:defRPr sz="1100">
                <a:solidFill>
                  <a:srgbClr val="1E293B"/>
                </a:solidFill>
              </a:defRPr>
            </a:pPr>
            <a:r>
              <a:t>• Guarantee sub-minute automated rollback upon synthetic health gate failure.</a:t>
            </a:r>
          </a:p>
          <a:p>
            <a:pPr>
              <a:spcBef>
                <a:spcPts val="400"/>
              </a:spcBef>
              <a:defRPr sz="1100">
                <a:solidFill>
                  <a:srgbClr val="1E293B"/>
                </a:solidFill>
              </a:defRPr>
            </a:pPr>
            <a:r>
              <a:t>• Eliminate manual release friction through a 100% automated CI/CD pipeline.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2563EB"/>
                </a:solidFill>
              </a:defRPr>
            </a:pPr>
            <a:r>
              <a:t>CONSTRUCTION PROGRESS DASHBOARD — DEVOPS CAPSTONE</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1E293B"/>
                </a:solidFill>
              </a:defRPr>
            </a:pPr>
            <a:r>
              <a:t>Application Scope &amp; Production MVP Features (v1.0.0 &amp; v1.1.0)</a:t>
            </a:r>
          </a:p>
        </p:txBody>
      </p:sp>
      <p:sp>
        <p:nvSpPr>
          <p:cNvPr id="4" name="Rounded Rectangle 3"/>
          <p:cNvSpPr/>
          <p:nvPr/>
        </p:nvSpPr>
        <p:spPr>
          <a:xfrm>
            <a:off x="731520" y="1463040"/>
            <a:ext cx="329184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2926080" cy="4480560"/>
          </a:xfrm>
          <a:prstGeom prst="rect">
            <a:avLst/>
          </a:prstGeom>
          <a:noFill/>
        </p:spPr>
        <p:txBody>
          <a:bodyPr wrap="square">
            <a:spAutoFit/>
          </a:bodyPr>
          <a:lstStyle/>
          <a:p>
            <a:pPr>
              <a:defRPr sz="1400" b="1">
                <a:solidFill>
                  <a:srgbClr val="1E3A8A"/>
                </a:solidFill>
              </a:defRPr>
            </a:pPr>
            <a:r>
              <a:t>Field Task Operations</a:t>
            </a:r>
          </a:p>
          <a:p>
            <a:pPr>
              <a:spcBef>
                <a:spcPts val="400"/>
              </a:spcBef>
              <a:defRPr sz="1100">
                <a:solidFill>
                  <a:srgbClr val="1E293B"/>
                </a:solidFill>
              </a:defRPr>
            </a:pPr>
            <a:r>
              <a:t>• Task logging: title, project, due date, completion %.</a:t>
            </a:r>
          </a:p>
          <a:p>
            <a:pPr>
              <a:spcBef>
                <a:spcPts val="400"/>
              </a:spcBef>
              <a:defRPr sz="1100">
                <a:solidFill>
                  <a:srgbClr val="1E293B"/>
                </a:solidFill>
              </a:defRPr>
            </a:pPr>
            <a:r>
              <a:t>• Automatic completion business rule: setting status COMPLETED locks progress to 100%.</a:t>
            </a:r>
          </a:p>
          <a:p>
            <a:pPr>
              <a:spcBef>
                <a:spcPts val="400"/>
              </a:spcBef>
              <a:defRPr sz="1100">
                <a:solidFill>
                  <a:srgbClr val="1E293B"/>
                </a:solidFill>
              </a:defRPr>
            </a:pPr>
            <a:r>
              <a:t>• Audit trail: tracks updatedBy username and lastUpdated timestamp.</a:t>
            </a:r>
          </a:p>
          <a:p>
            <a:pPr>
              <a:spcBef>
                <a:spcPts val="400"/>
              </a:spcBef>
              <a:defRPr sz="1100">
                <a:solidFill>
                  <a:srgbClr val="1E293B"/>
                </a:solidFill>
              </a:defRPr>
            </a:pPr>
            <a:r>
              <a:t>• Multi-parameter search filtering by project and status.</a:t>
            </a:r>
          </a:p>
        </p:txBody>
      </p:sp>
      <p:sp>
        <p:nvSpPr>
          <p:cNvPr id="6" name="Rounded Rectangle 5"/>
          <p:cNvSpPr/>
          <p:nvPr/>
        </p:nvSpPr>
        <p:spPr>
          <a:xfrm>
            <a:off x="4389120" y="1463040"/>
            <a:ext cx="3291840" cy="475488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600200"/>
            <a:ext cx="2926080" cy="4480560"/>
          </a:xfrm>
          <a:prstGeom prst="rect">
            <a:avLst/>
          </a:prstGeom>
          <a:noFill/>
        </p:spPr>
        <p:txBody>
          <a:bodyPr wrap="square">
            <a:spAutoFit/>
          </a:bodyPr>
          <a:lstStyle/>
          <a:p>
            <a:pPr>
              <a:defRPr sz="1400" b="1">
                <a:solidFill>
                  <a:srgbClr val="2563EB"/>
                </a:solidFill>
              </a:defRPr>
            </a:pPr>
            <a:r>
              <a:t>Executive Insights &amp; Alerts</a:t>
            </a:r>
          </a:p>
          <a:p>
            <a:pPr>
              <a:spcBef>
                <a:spcPts val="400"/>
              </a:spcBef>
              <a:defRPr sz="1100">
                <a:solidFill>
                  <a:srgbClr val="1E293B"/>
                </a:solidFill>
              </a:defRPr>
            </a:pPr>
            <a:r>
              <a:t>• Consolidated Executive KPI Dashboard (/dashboard).</a:t>
            </a:r>
          </a:p>
          <a:p>
            <a:pPr>
              <a:spcBef>
                <a:spcPts val="400"/>
              </a:spcBef>
              <a:defRPr sz="1100">
                <a:solidFill>
                  <a:srgbClr val="1E293B"/>
                </a:solidFill>
              </a:defRPr>
            </a:pPr>
            <a:r>
              <a:t>• Real-time counters: Total, Completed, In-Progress, Blocked, Delayed.</a:t>
            </a:r>
          </a:p>
          <a:p>
            <a:pPr>
              <a:spcBef>
                <a:spcPts val="400"/>
              </a:spcBef>
              <a:defRPr sz="1100">
                <a:solidFill>
                  <a:srgbClr val="1E293B"/>
                </a:solidFill>
              </a:defRPr>
            </a:pPr>
            <a:r>
              <a:t>• Dynamic Status Drill-Down (/status).</a:t>
            </a:r>
          </a:p>
          <a:p>
            <a:pPr>
              <a:spcBef>
                <a:spcPts val="400"/>
              </a:spcBef>
              <a:defRPr sz="1100">
                <a:solidFill>
                  <a:srgbClr val="1E293B"/>
                </a:solidFill>
              </a:defRPr>
            </a:pPr>
            <a:r>
              <a:t>• Automated Alert Engine (/alerts) identifying overdue tasks against system date.</a:t>
            </a:r>
          </a:p>
        </p:txBody>
      </p:sp>
      <p:sp>
        <p:nvSpPr>
          <p:cNvPr id="8" name="Rounded Rectangle 7"/>
          <p:cNvSpPr/>
          <p:nvPr/>
        </p:nvSpPr>
        <p:spPr>
          <a:xfrm>
            <a:off x="8046720" y="1463040"/>
            <a:ext cx="329184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600200"/>
            <a:ext cx="2926080" cy="4480560"/>
          </a:xfrm>
          <a:prstGeom prst="rect">
            <a:avLst/>
          </a:prstGeom>
          <a:noFill/>
        </p:spPr>
        <p:txBody>
          <a:bodyPr wrap="square">
            <a:spAutoFit/>
          </a:bodyPr>
          <a:lstStyle/>
          <a:p>
            <a:pPr>
              <a:defRPr sz="1400" b="1">
                <a:solidFill>
                  <a:srgbClr val="1E3A8A"/>
                </a:solidFill>
              </a:defRPr>
            </a:pPr>
            <a:r>
              <a:t>Security &amp; Governance</a:t>
            </a:r>
          </a:p>
          <a:p>
            <a:pPr>
              <a:spcBef>
                <a:spcPts val="400"/>
              </a:spcBef>
              <a:defRPr sz="1100">
                <a:solidFill>
                  <a:srgbClr val="1E293B"/>
                </a:solidFill>
              </a:defRPr>
            </a:pPr>
            <a:r>
              <a:t>• Spring Security 6 Role-Based Access Control (RBAC).</a:t>
            </a:r>
          </a:p>
          <a:p>
            <a:pPr>
              <a:spcBef>
                <a:spcPts val="400"/>
              </a:spcBef>
              <a:defRPr sz="1100">
                <a:solidFill>
                  <a:srgbClr val="1E293B"/>
                </a:solidFill>
              </a:defRPr>
            </a:pPr>
            <a:r>
              <a:t>• Roles: ADMIN (Site configs), MANAGER (Dashboards), ENGINEER (Field logs).</a:t>
            </a:r>
          </a:p>
          <a:p>
            <a:pPr>
              <a:spcBef>
                <a:spcPts val="400"/>
              </a:spcBef>
              <a:defRPr sz="1100">
                <a:solidFill>
                  <a:srgbClr val="1E293B"/>
                </a:solidFill>
              </a:defRPr>
            </a:pPr>
            <a:r>
              <a:t>• Salte BCrypt password encryption (strength 10).</a:t>
            </a:r>
          </a:p>
          <a:p>
            <a:pPr>
              <a:spcBef>
                <a:spcPts val="400"/>
              </a:spcBef>
              <a:defRPr sz="1100">
                <a:solidFill>
                  <a:srgbClr val="1E293B"/>
                </a:solidFill>
              </a:defRPr>
            </a:pPr>
            <a:r>
              <a:t>• Synchronizer token CSRF form protection.</a:t>
            </a:r>
          </a:p>
          <a:p>
            <a:pPr>
              <a:spcBef>
                <a:spcPts val="400"/>
              </a:spcBef>
              <a:defRPr sz="1100">
                <a:solidFill>
                  <a:srgbClr val="1E293B"/>
                </a:solidFill>
              </a:defRPr>
            </a:pPr>
            <a:r>
              <a:t>• Synthetic REST health endpoint (/health).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2563EB"/>
                </a:solidFill>
              </a:defRPr>
            </a:pPr>
            <a:r>
              <a:t>CONSTRUCTION PROGRESS DASHBOARD — DEVOPS CAPSTONE</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1E293B"/>
                </a:solidFill>
              </a:defRPr>
            </a:pPr>
            <a:r>
              <a:t>Multi-Tier Enterprise Architecture &amp; Relational Domain Model</a:t>
            </a:r>
          </a:p>
        </p:txBody>
      </p:sp>
      <p:sp>
        <p:nvSpPr>
          <p:cNvPr id="4" name="Rounded Rectangle 3"/>
          <p:cNvSpPr/>
          <p:nvPr/>
        </p:nvSpPr>
        <p:spPr>
          <a:xfrm>
            <a:off x="731520" y="1463040"/>
            <a:ext cx="512064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4754880" cy="4480560"/>
          </a:xfrm>
          <a:prstGeom prst="rect">
            <a:avLst/>
          </a:prstGeom>
          <a:noFill/>
        </p:spPr>
        <p:txBody>
          <a:bodyPr wrap="square">
            <a:spAutoFit/>
          </a:bodyPr>
          <a:lstStyle/>
          <a:p>
            <a:pPr>
              <a:defRPr sz="1400" b="1">
                <a:solidFill>
                  <a:srgbClr val="1E3A8A"/>
                </a:solidFill>
              </a:defRPr>
            </a:pPr>
            <a:r>
              <a:t>Architectural Layers (Spring Boot 3)</a:t>
            </a:r>
          </a:p>
          <a:p>
            <a:pPr>
              <a:spcBef>
                <a:spcPts val="400"/>
              </a:spcBef>
              <a:defRPr sz="1100">
                <a:solidFill>
                  <a:srgbClr val="1E293B"/>
                </a:solidFill>
              </a:defRPr>
            </a:pPr>
            <a:r>
              <a:t>• Client Tier: Modern web browsers &amp; automated Selenium Headless Chrome.</a:t>
            </a:r>
          </a:p>
          <a:p>
            <a:pPr>
              <a:spcBef>
                <a:spcPts val="400"/>
              </a:spcBef>
              <a:defRPr sz="1100">
                <a:solidFill>
                  <a:srgbClr val="1E293B"/>
                </a:solidFill>
              </a:defRPr>
            </a:pPr>
            <a:r>
              <a:t>• Security Tier: DelegatingFilterProxy &amp; SecurityFilterChain with BCrypt auth.</a:t>
            </a:r>
          </a:p>
          <a:p>
            <a:pPr>
              <a:spcBef>
                <a:spcPts val="400"/>
              </a:spcBef>
              <a:defRPr sz="1100">
                <a:solidFill>
                  <a:srgbClr val="1E293B"/>
                </a:solidFill>
              </a:defRPr>
            </a:pPr>
            <a:r>
              <a:t>• Presentation Tier: Spring MVC controllers rendering Thymeleaf 5 HTML.</a:t>
            </a:r>
          </a:p>
          <a:p>
            <a:pPr>
              <a:spcBef>
                <a:spcPts val="400"/>
              </a:spcBef>
              <a:defRPr sz="1100">
                <a:solidFill>
                  <a:srgbClr val="1E293B"/>
                </a:solidFill>
              </a:defRPr>
            </a:pPr>
            <a:r>
              <a:t>• Service Tier: Domain rules (KPI calculations, auto-100% completion, alerts).</a:t>
            </a:r>
          </a:p>
          <a:p>
            <a:pPr>
              <a:spcBef>
                <a:spcPts val="400"/>
              </a:spcBef>
              <a:defRPr sz="1100">
                <a:solidFill>
                  <a:srgbClr val="1E293B"/>
                </a:solidFill>
              </a:defRPr>
            </a:pPr>
            <a:r>
              <a:t>• Persistence Tier: Spring Data JPA Repositories with dynamic Specifications.</a:t>
            </a:r>
          </a:p>
          <a:p>
            <a:pPr>
              <a:spcBef>
                <a:spcPts val="400"/>
              </a:spcBef>
              <a:defRPr sz="1100">
                <a:solidFill>
                  <a:srgbClr val="1E293B"/>
                </a:solidFill>
              </a:defRPr>
            </a:pPr>
            <a:r>
              <a:t>• Database Engine: Relational engine (H2 dev profile / PostgreSQL ready).</a:t>
            </a:r>
          </a:p>
        </p:txBody>
      </p:sp>
      <p:sp>
        <p:nvSpPr>
          <p:cNvPr id="6" name="Rounded Rectangle 5"/>
          <p:cNvSpPr/>
          <p:nvPr/>
        </p:nvSpPr>
        <p:spPr>
          <a:xfrm>
            <a:off x="6217920" y="1463040"/>
            <a:ext cx="5120640" cy="475488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600200"/>
            <a:ext cx="4754880" cy="4480560"/>
          </a:xfrm>
          <a:prstGeom prst="rect">
            <a:avLst/>
          </a:prstGeom>
          <a:noFill/>
        </p:spPr>
        <p:txBody>
          <a:bodyPr wrap="square">
            <a:spAutoFit/>
          </a:bodyPr>
          <a:lstStyle/>
          <a:p>
            <a:pPr>
              <a:defRPr sz="1400" b="1">
                <a:solidFill>
                  <a:srgbClr val="2563EB"/>
                </a:solidFill>
              </a:defRPr>
            </a:pPr>
            <a:r>
              <a:t>Domain Entity Relationships (ERD)</a:t>
            </a:r>
          </a:p>
          <a:p>
            <a:pPr>
              <a:spcBef>
                <a:spcPts val="400"/>
              </a:spcBef>
              <a:defRPr sz="1100">
                <a:solidFill>
                  <a:srgbClr val="1E293B"/>
                </a:solidFill>
              </a:defRPr>
            </a:pPr>
            <a:r>
              <a:t>• PROJECT (1) ────&lt; TASK (N): One project aggregates multiple site tasks.</a:t>
            </a:r>
          </a:p>
          <a:p>
            <a:pPr>
              <a:spcBef>
                <a:spcPts val="400"/>
              </a:spcBef>
              <a:defRPr sz="1100">
                <a:solidFill>
                  <a:srgbClr val="1E293B"/>
                </a:solidFill>
              </a:defRPr>
            </a:pPr>
            <a:r>
              <a:t>• USER (1) ────&gt; TASK (Audits): Tracks lead engineers and last mutation.</a:t>
            </a:r>
          </a:p>
          <a:p>
            <a:pPr>
              <a:spcBef>
                <a:spcPts val="400"/>
              </a:spcBef>
              <a:defRPr sz="1100">
                <a:solidFill>
                  <a:srgbClr val="1E293B"/>
                </a:solidFill>
              </a:defRPr>
            </a:pPr>
            <a:r>
              <a:t>• Project Entity: ID, Name, Description, Location, Start Date, Target Date.</a:t>
            </a:r>
          </a:p>
          <a:p>
            <a:pPr>
              <a:spcBef>
                <a:spcPts val="400"/>
              </a:spcBef>
              <a:defRPr sz="1100">
                <a:solidFill>
                  <a:srgbClr val="1E293B"/>
                </a:solidFill>
              </a:defRPr>
            </a:pPr>
            <a:r>
              <a:t>• Task Entity: ID, Title, Status (Enum), PercentComplete (0-100), DueDate.</a:t>
            </a:r>
          </a:p>
          <a:p>
            <a:pPr>
              <a:spcBef>
                <a:spcPts val="400"/>
              </a:spcBef>
              <a:defRPr sz="1100">
                <a:solidFill>
                  <a:srgbClr val="1E293B"/>
                </a:solidFill>
              </a:defRPr>
            </a:pPr>
            <a:r>
              <a:t>• User Entity: ID, Username, Password (BCrypt Hash), Role (Enum), Enabled.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2563EB"/>
                </a:solidFill>
              </a:defRPr>
            </a:pPr>
            <a:r>
              <a:t>CONSTRUCTION PROGRESS DASHBOARD — DEVOPS CAPSTONE</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1E293B"/>
                </a:solidFill>
              </a:defRPr>
            </a:pPr>
            <a:r>
              <a:t>Agile Scrum Methodology &amp; Sprint Delivery Milestones</a:t>
            </a:r>
          </a:p>
        </p:txBody>
      </p:sp>
      <p:sp>
        <p:nvSpPr>
          <p:cNvPr id="4" name="Rounded Rectangle 3"/>
          <p:cNvSpPr/>
          <p:nvPr/>
        </p:nvSpPr>
        <p:spPr>
          <a:xfrm>
            <a:off x="731520" y="1463040"/>
            <a:ext cx="512064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4754880" cy="4480560"/>
          </a:xfrm>
          <a:prstGeom prst="rect">
            <a:avLst/>
          </a:prstGeom>
          <a:noFill/>
        </p:spPr>
        <p:txBody>
          <a:bodyPr wrap="square">
            <a:spAutoFit/>
          </a:bodyPr>
          <a:lstStyle/>
          <a:p>
            <a:pPr>
              <a:defRPr sz="1400" b="1">
                <a:solidFill>
                  <a:srgbClr val="1E3A8A"/>
                </a:solidFill>
              </a:defRPr>
            </a:pPr>
            <a:r>
              <a:t>Sprint Trajectory (Weeks 4 – 15)</a:t>
            </a:r>
          </a:p>
          <a:p>
            <a:pPr>
              <a:spcBef>
                <a:spcPts val="400"/>
              </a:spcBef>
              <a:defRPr sz="1100">
                <a:solidFill>
                  <a:srgbClr val="1E293B"/>
                </a:solidFill>
              </a:defRPr>
            </a:pPr>
            <a:r>
              <a:t>• Sprint 1 (Weeks 4–6): Domain foundation, field CRUD, MVP v0.2.0 baseline.</a:t>
            </a:r>
          </a:p>
          <a:p>
            <a:pPr>
              <a:spcBef>
                <a:spcPts val="400"/>
              </a:spcBef>
              <a:defRPr sz="1100">
                <a:solidFill>
                  <a:srgbClr val="1E293B"/>
                </a:solidFill>
              </a:defRPr>
            </a:pPr>
            <a:r>
              <a:t>• Sprint 2 (Week 7): Spring Security 6 RBAC, Admin portal, Release v1.0.0.</a:t>
            </a:r>
          </a:p>
          <a:p>
            <a:pPr>
              <a:spcBef>
                <a:spcPts val="400"/>
              </a:spcBef>
              <a:defRPr sz="1100">
                <a:solidFill>
                  <a:srgbClr val="1E293B"/>
                </a:solidFill>
              </a:defRPr>
            </a:pPr>
            <a:r>
              <a:t>• Sprint 3 (Weeks 8–10): Jenkins Pipeline as code, Selenium testing &amp; Quality Gate.</a:t>
            </a:r>
          </a:p>
          <a:p>
            <a:pPr>
              <a:spcBef>
                <a:spcPts val="400"/>
              </a:spcBef>
              <a:defRPr sz="1100">
                <a:solidFill>
                  <a:srgbClr val="1E293B"/>
                </a:solidFill>
              </a:defRPr>
            </a:pPr>
            <a:r>
              <a:t>• Sprint 4 (Weeks 11–12): Multi-stage Docker, registry publishing, Docker CD.</a:t>
            </a:r>
          </a:p>
          <a:p>
            <a:pPr>
              <a:spcBef>
                <a:spcPts val="400"/>
              </a:spcBef>
              <a:defRPr sz="1100">
                <a:solidFill>
                  <a:srgbClr val="1E293B"/>
                </a:solidFill>
              </a:defRPr>
            </a:pPr>
            <a:r>
              <a:t>• Sprint 5 (Weeks 13–14): Ansible provisioning, idempotency, automated rollback.</a:t>
            </a:r>
          </a:p>
          <a:p>
            <a:pPr>
              <a:spcBef>
                <a:spcPts val="400"/>
              </a:spcBef>
              <a:defRPr sz="1100">
                <a:solidFill>
                  <a:srgbClr val="1E293B"/>
                </a:solidFill>
              </a:defRPr>
            </a:pPr>
            <a:r>
              <a:t>• Sprint 6 (Week 15): End-to-end Git-to-Ansible workflow &amp; Release v1.1.0.</a:t>
            </a:r>
          </a:p>
        </p:txBody>
      </p:sp>
      <p:sp>
        <p:nvSpPr>
          <p:cNvPr id="6" name="Rounded Rectangle 5"/>
          <p:cNvSpPr/>
          <p:nvPr/>
        </p:nvSpPr>
        <p:spPr>
          <a:xfrm>
            <a:off x="6217920" y="1463040"/>
            <a:ext cx="5120640" cy="475488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600200"/>
            <a:ext cx="4754880" cy="4480560"/>
          </a:xfrm>
          <a:prstGeom prst="rect">
            <a:avLst/>
          </a:prstGeom>
          <a:noFill/>
        </p:spPr>
        <p:txBody>
          <a:bodyPr wrap="square">
            <a:spAutoFit/>
          </a:bodyPr>
          <a:lstStyle/>
          <a:p>
            <a:pPr>
              <a:defRPr sz="1400" b="1">
                <a:solidFill>
                  <a:srgbClr val="2563EB"/>
                </a:solidFill>
              </a:defRPr>
            </a:pPr>
            <a:r>
              <a:t>Agile Quality Governance</a:t>
            </a:r>
          </a:p>
          <a:p>
            <a:pPr>
              <a:spcBef>
                <a:spcPts val="400"/>
              </a:spcBef>
              <a:defRPr sz="1100">
                <a:solidFill>
                  <a:srgbClr val="1E293B"/>
                </a:solidFill>
              </a:defRPr>
            </a:pPr>
            <a:r>
              <a:t>• Product Backlog: Tracked user stories B-01 to B-14 in docs/BACKLOG.md.</a:t>
            </a:r>
          </a:p>
          <a:p>
            <a:pPr>
              <a:spcBef>
                <a:spcPts val="400"/>
              </a:spcBef>
              <a:defRPr sz="1100">
                <a:solidFill>
                  <a:srgbClr val="1E293B"/>
                </a:solidFill>
              </a:defRPr>
            </a:pPr>
            <a:r>
              <a:t>• GitHub Issues: Every task mapped to discrete issues with Acceptance Criteria.</a:t>
            </a:r>
          </a:p>
          <a:p>
            <a:pPr>
              <a:spcBef>
                <a:spcPts val="400"/>
              </a:spcBef>
              <a:defRPr sz="1100">
                <a:solidFill>
                  <a:srgbClr val="1E293B"/>
                </a:solidFill>
              </a:defRPr>
            </a:pPr>
            <a:r>
              <a:t>• Definition of Done (DoD): Code quality, 100% test pass, PR review, CI green.</a:t>
            </a:r>
          </a:p>
          <a:p>
            <a:pPr>
              <a:spcBef>
                <a:spcPts val="400"/>
              </a:spcBef>
              <a:defRPr sz="1100">
                <a:solidFill>
                  <a:srgbClr val="1E293B"/>
                </a:solidFill>
              </a:defRPr>
            </a:pPr>
            <a:r>
              <a:t>• Immutable Releases: v1.0.0 (MVP milestone) and v1.1.0 (DevOps milestone).</a:t>
            </a:r>
          </a:p>
          <a:p>
            <a:pPr>
              <a:spcBef>
                <a:spcPts val="400"/>
              </a:spcBef>
              <a:defRPr sz="1100">
                <a:solidFill>
                  <a:srgbClr val="1E293B"/>
                </a:solidFill>
              </a:defRPr>
            </a:pPr>
            <a:r>
              <a:t>• Artifact Attachments: Production WAR attached to GitHub Releases.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2563EB"/>
                </a:solidFill>
              </a:defRPr>
            </a:pPr>
            <a:r>
              <a:t>CONSTRUCTION PROGRESS DASHBOARD — DEVOPS CAPSTONE</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1E293B"/>
                </a:solidFill>
              </a:defRPr>
            </a:pPr>
            <a:r>
              <a:t>Version Control Governance: Gitflow, Traceability &amp; Merge Resolution</a:t>
            </a:r>
          </a:p>
        </p:txBody>
      </p:sp>
      <p:sp>
        <p:nvSpPr>
          <p:cNvPr id="4" name="Rounded Rectangle 3"/>
          <p:cNvSpPr/>
          <p:nvPr/>
        </p:nvSpPr>
        <p:spPr>
          <a:xfrm>
            <a:off x="731520" y="1463040"/>
            <a:ext cx="512064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4754880" cy="4480560"/>
          </a:xfrm>
          <a:prstGeom prst="rect">
            <a:avLst/>
          </a:prstGeom>
          <a:noFill/>
        </p:spPr>
        <p:txBody>
          <a:bodyPr wrap="square">
            <a:spAutoFit/>
          </a:bodyPr>
          <a:lstStyle/>
          <a:p>
            <a:pPr>
              <a:defRPr sz="1400" b="1">
                <a:solidFill>
                  <a:srgbClr val="1E3A8A"/>
                </a:solidFill>
              </a:defRPr>
            </a:pPr>
            <a:r>
              <a:t>Gitflow Branching Architecture</a:t>
            </a:r>
          </a:p>
          <a:p>
            <a:pPr>
              <a:spcBef>
                <a:spcPts val="400"/>
              </a:spcBef>
              <a:defRPr sz="1100">
                <a:solidFill>
                  <a:srgbClr val="1E293B"/>
                </a:solidFill>
              </a:defRPr>
            </a:pPr>
            <a:r>
              <a:t>• Perpetual Branches: main (production releases) and develop (integration).</a:t>
            </a:r>
          </a:p>
          <a:p>
            <a:pPr>
              <a:spcBef>
                <a:spcPts val="400"/>
              </a:spcBef>
              <a:defRPr sz="1100">
                <a:solidFill>
                  <a:srgbClr val="1E293B"/>
                </a:solidFill>
              </a:defRPr>
            </a:pPr>
            <a:r>
              <a:t>• Ephemeral Branches: feature/N-*, chore/*, docs/* created off develop.</a:t>
            </a:r>
          </a:p>
          <a:p>
            <a:pPr>
              <a:spcBef>
                <a:spcPts val="400"/>
              </a:spcBef>
              <a:defRPr sz="1100">
                <a:solidFill>
                  <a:srgbClr val="1E293B"/>
                </a:solidFill>
              </a:defRPr>
            </a:pPr>
            <a:r>
              <a:t>• Pull Requests: Enforce peer reviews, status checks, and non-fast-forward merges.</a:t>
            </a:r>
          </a:p>
          <a:p>
            <a:pPr>
              <a:spcBef>
                <a:spcPts val="400"/>
              </a:spcBef>
              <a:defRPr sz="1100">
                <a:solidFill>
                  <a:srgbClr val="1E293B"/>
                </a:solidFill>
              </a:defRPr>
            </a:pPr>
            <a:r>
              <a:t>• Traceable Commits: Conventional Commits with mandatory issue IDs (#N).</a:t>
            </a:r>
          </a:p>
          <a:p>
            <a:pPr>
              <a:spcBef>
                <a:spcPts val="400"/>
              </a:spcBef>
              <a:defRPr sz="1100">
                <a:solidFill>
                  <a:srgbClr val="1E293B"/>
                </a:solidFill>
              </a:defRPr>
            </a:pPr>
            <a:r>
              <a:t>• Security Policy: Zero credentials committed; git push --force strictly disabled.</a:t>
            </a:r>
          </a:p>
        </p:txBody>
      </p:sp>
      <p:sp>
        <p:nvSpPr>
          <p:cNvPr id="6" name="Rounded Rectangle 5"/>
          <p:cNvSpPr/>
          <p:nvPr/>
        </p:nvSpPr>
        <p:spPr>
          <a:xfrm>
            <a:off x="6217920" y="1463040"/>
            <a:ext cx="5120640" cy="475488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600200"/>
            <a:ext cx="4754880" cy="4480560"/>
          </a:xfrm>
          <a:prstGeom prst="rect">
            <a:avLst/>
          </a:prstGeom>
          <a:noFill/>
        </p:spPr>
        <p:txBody>
          <a:bodyPr wrap="square">
            <a:spAutoFit/>
          </a:bodyPr>
          <a:lstStyle/>
          <a:p>
            <a:pPr>
              <a:defRPr sz="1400" b="1">
                <a:solidFill>
                  <a:srgbClr val="2563EB"/>
                </a:solidFill>
              </a:defRPr>
            </a:pPr>
            <a:r>
              <a:t>Real Merge Conflict Resolution (Week 6)</a:t>
            </a:r>
          </a:p>
          <a:p>
            <a:pPr>
              <a:spcBef>
                <a:spcPts val="400"/>
              </a:spcBef>
              <a:defRPr sz="1100">
                <a:solidFill>
                  <a:srgbClr val="1E293B"/>
                </a:solidFill>
              </a:defRPr>
            </a:pPr>
            <a:r>
              <a:t>• Scenario: Feature A (#7) and Feature B (#8) branched from commit c90f7c7.</a:t>
            </a:r>
          </a:p>
          <a:p>
            <a:pPr>
              <a:spcBef>
                <a:spcPts val="400"/>
              </a:spcBef>
              <a:defRPr sz="1100">
                <a:solidFill>
                  <a:srgbClr val="1E293B"/>
                </a:solidFill>
              </a:defRPr>
            </a:pPr>
            <a:r>
              <a:t>• Conflict: Both branches modified navbar.html and README.md concurrently.</a:t>
            </a:r>
          </a:p>
          <a:p>
            <a:pPr>
              <a:spcBef>
                <a:spcPts val="400"/>
              </a:spcBef>
              <a:defRPr sz="1100">
                <a:solidFill>
                  <a:srgbClr val="1E293B"/>
                </a:solidFill>
              </a:defRPr>
            </a:pPr>
            <a:r>
              <a:t>• Detection: GitHub CLI flagged PR #10 as DIRTY and CONFLICTING.</a:t>
            </a:r>
          </a:p>
          <a:p>
            <a:pPr>
              <a:spcBef>
                <a:spcPts val="400"/>
              </a:spcBef>
              <a:defRPr sz="1100">
                <a:solidFill>
                  <a:srgbClr val="1E293B"/>
                </a:solidFill>
              </a:defRPr>
            </a:pPr>
            <a:r>
              <a:t>• Resolution: Performed local merge develop, unified navigation links for both features.</a:t>
            </a:r>
          </a:p>
          <a:p>
            <a:pPr>
              <a:spcBef>
                <a:spcPts val="400"/>
              </a:spcBef>
              <a:defRPr sz="1100">
                <a:solidFill>
                  <a:srgbClr val="1E293B"/>
                </a:solidFill>
              </a:defRPr>
            </a:pPr>
            <a:r>
              <a:t>• Verification: Tested locally, pushed merge resolution commit, successfully merged PR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2563EB"/>
                </a:solidFill>
              </a:defRPr>
            </a:pPr>
            <a:r>
              <a:t>CONSTRUCTION PROGRESS DASHBOARD — DEVOPS CAPSTONE</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1E293B"/>
                </a:solidFill>
              </a:defRPr>
            </a:pPr>
            <a:r>
              <a:t>Declarative CI/CD Pipeline Architecture (Jenkinsfile)</a:t>
            </a:r>
          </a:p>
        </p:txBody>
      </p:sp>
      <p:sp>
        <p:nvSpPr>
          <p:cNvPr id="4" name="Rounded Rectangle 3"/>
          <p:cNvSpPr/>
          <p:nvPr/>
        </p:nvSpPr>
        <p:spPr>
          <a:xfrm>
            <a:off x="731520" y="1463040"/>
            <a:ext cx="5120640" cy="475488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4754880" cy="4480560"/>
          </a:xfrm>
          <a:prstGeom prst="rect">
            <a:avLst/>
          </a:prstGeom>
          <a:noFill/>
        </p:spPr>
        <p:txBody>
          <a:bodyPr wrap="square">
            <a:spAutoFit/>
          </a:bodyPr>
          <a:lstStyle/>
          <a:p>
            <a:pPr>
              <a:defRPr sz="1400" b="1">
                <a:solidFill>
                  <a:srgbClr val="2563EB"/>
                </a:solidFill>
              </a:defRPr>
            </a:pPr>
            <a:r>
              <a:t>Ten Automated Pipeline Stages</a:t>
            </a:r>
          </a:p>
          <a:p>
            <a:pPr>
              <a:spcBef>
                <a:spcPts val="400"/>
              </a:spcBef>
              <a:defRPr sz="1100">
                <a:solidFill>
                  <a:srgbClr val="1E293B"/>
                </a:solidFill>
              </a:defRPr>
            </a:pPr>
            <a:r>
              <a:t>• 1. Checkout: Metadata extraction (APP_VERSION, IMAGE_TAG).</a:t>
            </a:r>
          </a:p>
          <a:p>
            <a:pPr>
              <a:spcBef>
                <a:spcPts val="400"/>
              </a:spcBef>
              <a:defRPr sz="1100">
                <a:solidFill>
                  <a:srgbClr val="1E293B"/>
                </a:solidFill>
              </a:defRPr>
            </a:pPr>
            <a:r>
              <a:t>• 2. Compile: Clean compilation of 30 Java classes via Maven.</a:t>
            </a:r>
          </a:p>
          <a:p>
            <a:pPr>
              <a:spcBef>
                <a:spcPts val="400"/>
              </a:spcBef>
              <a:defRPr sz="1100">
                <a:solidFill>
                  <a:srgbClr val="1E293B"/>
                </a:solidFill>
              </a:defRPr>
            </a:pPr>
            <a:r>
              <a:t>• 3. Unit Tests: 58 JUnit 5 tests covering models, services, controllers.</a:t>
            </a:r>
          </a:p>
          <a:p>
            <a:pPr>
              <a:spcBef>
                <a:spcPts val="400"/>
              </a:spcBef>
              <a:defRPr sz="1100">
                <a:solidFill>
                  <a:srgbClr val="1E293B"/>
                </a:solidFill>
              </a:defRPr>
            </a:pPr>
            <a:r>
              <a:t>• 4. Package: Produces 53.84 MB production WAR artifact (dashboard.war).</a:t>
            </a:r>
          </a:p>
          <a:p>
            <a:pPr>
              <a:spcBef>
                <a:spcPts val="400"/>
              </a:spcBef>
              <a:defRPr sz="1100">
                <a:solidFill>
                  <a:srgbClr val="1E293B"/>
                </a:solidFill>
              </a:defRPr>
            </a:pPr>
            <a:r>
              <a:t>• 5. Selenium Quality Gate: Headless Chrome browser user journeys.</a:t>
            </a:r>
          </a:p>
          <a:p>
            <a:pPr>
              <a:spcBef>
                <a:spcPts val="400"/>
              </a:spcBef>
              <a:defRPr sz="1100">
                <a:solidFill>
                  <a:srgbClr val="1E293B"/>
                </a:solidFill>
              </a:defRPr>
            </a:pPr>
            <a:r>
              <a:t>• 6. Docker Build: Multi-stage container packaging.</a:t>
            </a:r>
          </a:p>
          <a:p>
            <a:pPr>
              <a:spcBef>
                <a:spcPts val="400"/>
              </a:spcBef>
              <a:defRPr sz="1100">
                <a:solidFill>
                  <a:srgbClr val="1E293B"/>
                </a:solidFill>
              </a:defRPr>
            </a:pPr>
            <a:r>
              <a:t>• 7. Docker Push: Pushes versioned tag &amp; :latest to registry.</a:t>
            </a:r>
          </a:p>
          <a:p>
            <a:pPr>
              <a:spcBef>
                <a:spcPts val="400"/>
              </a:spcBef>
              <a:defRPr sz="1100">
                <a:solidFill>
                  <a:srgbClr val="1E293B"/>
                </a:solidFill>
              </a:defRPr>
            </a:pPr>
            <a:r>
              <a:t>• 8. Ansible Deploy: Provisions node &amp; restarts container via systemd.</a:t>
            </a:r>
          </a:p>
          <a:p>
            <a:pPr>
              <a:spcBef>
                <a:spcPts val="400"/>
              </a:spcBef>
              <a:defRPr sz="1100">
                <a:solidFill>
                  <a:srgbClr val="1E293B"/>
                </a:solidFill>
              </a:defRPr>
            </a:pPr>
            <a:r>
              <a:t>• 9. Verify Node: Polling HTTP /health and UI version badge.</a:t>
            </a:r>
          </a:p>
          <a:p>
            <a:pPr>
              <a:spcBef>
                <a:spcPts val="400"/>
              </a:spcBef>
              <a:defRPr sz="1100">
                <a:solidFill>
                  <a:srgbClr val="1E293B"/>
                </a:solidFill>
              </a:defRPr>
            </a:pPr>
            <a:r>
              <a:t>• 10. Promote: Promotes image tag to :stable upon 100% verification.</a:t>
            </a:r>
          </a:p>
        </p:txBody>
      </p:sp>
      <p:sp>
        <p:nvSpPr>
          <p:cNvPr id="6" name="Rounded Rectangle 5"/>
          <p:cNvSpPr/>
          <p:nvPr/>
        </p:nvSpPr>
        <p:spPr>
          <a:xfrm>
            <a:off x="6217920" y="1463040"/>
            <a:ext cx="512064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600200"/>
            <a:ext cx="4754880" cy="4480560"/>
          </a:xfrm>
          <a:prstGeom prst="rect">
            <a:avLst/>
          </a:prstGeom>
          <a:noFill/>
        </p:spPr>
        <p:txBody>
          <a:bodyPr wrap="square">
            <a:spAutoFit/>
          </a:bodyPr>
          <a:lstStyle/>
          <a:p>
            <a:pPr>
              <a:defRPr sz="1400" b="1">
                <a:solidFill>
                  <a:srgbClr val="1E3A8A"/>
                </a:solidFill>
              </a:defRPr>
            </a:pPr>
            <a:r>
              <a:t>Pipeline Design Principles</a:t>
            </a:r>
          </a:p>
          <a:p>
            <a:pPr>
              <a:spcBef>
                <a:spcPts val="400"/>
              </a:spcBef>
              <a:defRPr sz="1100">
                <a:solidFill>
                  <a:srgbClr val="1E293B"/>
                </a:solidFill>
              </a:defRPr>
            </a:pPr>
            <a:r>
              <a:t>• Deterministic Tagging: &lt;version&gt;-b&lt;build&gt;-&lt;sha&gt; (e.g., 0.0.1-SNAPSHOT-b3-73fa1bc).</a:t>
            </a:r>
          </a:p>
          <a:p>
            <a:pPr>
              <a:spcBef>
                <a:spcPts val="400"/>
              </a:spcBef>
              <a:defRPr sz="1100">
                <a:solidFill>
                  <a:srgbClr val="1E293B"/>
                </a:solidFill>
              </a:defRPr>
            </a:pPr>
            <a:r>
              <a:t>• Fail-Fast Quality Gates: Failed tests immediately abort downstream publishing.</a:t>
            </a:r>
          </a:p>
          <a:p>
            <a:pPr>
              <a:spcBef>
                <a:spcPts val="400"/>
              </a:spcBef>
              <a:defRPr sz="1100">
                <a:solidFill>
                  <a:srgbClr val="1E293B"/>
                </a:solidFill>
              </a:defRPr>
            </a:pPr>
            <a:r>
              <a:t>• Artifact Archiving: Archives JUnit XML, deploy-info.txt, and Ansible logs.</a:t>
            </a:r>
          </a:p>
          <a:p>
            <a:pPr>
              <a:spcBef>
                <a:spcPts val="400"/>
              </a:spcBef>
              <a:defRPr sz="1100">
                <a:solidFill>
                  <a:srgbClr val="1E293B"/>
                </a:solidFill>
              </a:defRPr>
            </a:pPr>
            <a:r>
              <a:t>• Security Isolation: Injects secrets via Jenkins Credentials Store (never printed).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2563EB"/>
                </a:solidFill>
              </a:defRPr>
            </a:pPr>
            <a:r>
              <a:t>CONSTRUCTION PROGRESS DASHBOARD — DEVOPS CAPSTONE</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1E293B"/>
                </a:solidFill>
              </a:defRPr>
            </a:pPr>
            <a:r>
              <a:t>Continuous Testing: Automated Selenium Headless Quality Gate</a:t>
            </a:r>
          </a:p>
        </p:txBody>
      </p:sp>
      <p:sp>
        <p:nvSpPr>
          <p:cNvPr id="4" name="Rounded Rectangle 3"/>
          <p:cNvSpPr/>
          <p:nvPr/>
        </p:nvSpPr>
        <p:spPr>
          <a:xfrm>
            <a:off x="731520" y="1463040"/>
            <a:ext cx="512064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4754880" cy="4480560"/>
          </a:xfrm>
          <a:prstGeom prst="rect">
            <a:avLst/>
          </a:prstGeom>
          <a:noFill/>
        </p:spPr>
        <p:txBody>
          <a:bodyPr wrap="square">
            <a:spAutoFit/>
          </a:bodyPr>
          <a:lstStyle/>
          <a:p>
            <a:pPr>
              <a:defRPr sz="1400" b="1">
                <a:solidFill>
                  <a:srgbClr val="1E3A8A"/>
                </a:solidFill>
              </a:defRPr>
            </a:pPr>
            <a:r>
              <a:t>Headless Chrome User Journeys</a:t>
            </a:r>
          </a:p>
          <a:p>
            <a:pPr>
              <a:spcBef>
                <a:spcPts val="400"/>
              </a:spcBef>
              <a:defRPr sz="1100">
                <a:solidFill>
                  <a:srgbClr val="1E293B"/>
                </a:solidFill>
              </a:defRPr>
            </a:pPr>
            <a:r>
              <a:t>• Journey 1: Form login, session cookies, and RBAC authorization restrictions.</a:t>
            </a:r>
          </a:p>
          <a:p>
            <a:pPr>
              <a:spcBef>
                <a:spcPts val="400"/>
              </a:spcBef>
              <a:defRPr sz="1100">
                <a:solidFill>
                  <a:srgbClr val="1E293B"/>
                </a:solidFill>
              </a:defRPr>
            </a:pPr>
            <a:r>
              <a:t>• Journey 2: Task creation, field validation, and 100% auto-completion logic.</a:t>
            </a:r>
          </a:p>
          <a:p>
            <a:pPr>
              <a:spcBef>
                <a:spcPts val="400"/>
              </a:spcBef>
              <a:defRPr sz="1100">
                <a:solidFill>
                  <a:srgbClr val="1E293B"/>
                </a:solidFill>
              </a:defRPr>
            </a:pPr>
            <a:r>
              <a:t>• Journey 3: Executive dashboard filtering, KPI counter assertions, and alert views.</a:t>
            </a:r>
          </a:p>
          <a:p>
            <a:pPr>
              <a:spcBef>
                <a:spcPts val="400"/>
              </a:spcBef>
              <a:defRPr sz="1100">
                <a:solidFill>
                  <a:srgbClr val="1E293B"/>
                </a:solidFill>
              </a:defRPr>
            </a:pPr>
            <a:r>
              <a:t>• Implementation: Page Object Model (POM) pattern for UI maintainability.</a:t>
            </a:r>
          </a:p>
          <a:p>
            <a:pPr>
              <a:spcBef>
                <a:spcPts val="400"/>
              </a:spcBef>
              <a:defRPr sz="1100">
                <a:solidFill>
                  <a:srgbClr val="1E293B"/>
                </a:solidFill>
              </a:defRPr>
            </a:pPr>
            <a:r>
              <a:t>• Runtime Flags: --headless=new, --no-sandbox, --disable-dev-shm-usage.</a:t>
            </a:r>
          </a:p>
        </p:txBody>
      </p:sp>
      <p:sp>
        <p:nvSpPr>
          <p:cNvPr id="6" name="Rounded Rectangle 5"/>
          <p:cNvSpPr/>
          <p:nvPr/>
        </p:nvSpPr>
        <p:spPr>
          <a:xfrm>
            <a:off x="6217920" y="1463040"/>
            <a:ext cx="5120640" cy="475488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600200"/>
            <a:ext cx="4754880" cy="4480560"/>
          </a:xfrm>
          <a:prstGeom prst="rect">
            <a:avLst/>
          </a:prstGeom>
          <a:noFill/>
        </p:spPr>
        <p:txBody>
          <a:bodyPr wrap="square">
            <a:spAutoFit/>
          </a:bodyPr>
          <a:lstStyle/>
          <a:p>
            <a:pPr>
              <a:defRPr sz="1400" b="1">
                <a:solidFill>
                  <a:srgbClr val="2563EB"/>
                </a:solidFill>
              </a:defRPr>
            </a:pPr>
            <a:r>
              <a:t>Defect Blockade Demonstration (Week 10)</a:t>
            </a:r>
          </a:p>
          <a:p>
            <a:pPr>
              <a:spcBef>
                <a:spcPts val="400"/>
              </a:spcBef>
              <a:defRPr sz="1100">
                <a:solidFill>
                  <a:srgbClr val="1E293B"/>
                </a:solidFill>
              </a:defRPr>
            </a:pPr>
            <a:r>
              <a:t>• Baseline Run (Build #1): Green, 100% test pass, deployment executed.</a:t>
            </a:r>
          </a:p>
          <a:p>
            <a:pPr>
              <a:spcBef>
                <a:spcPts val="400"/>
              </a:spcBef>
              <a:defRPr sz="1100">
                <a:solidFill>
                  <a:srgbClr val="1E293B"/>
                </a:solidFill>
              </a:defRPr>
            </a:pPr>
            <a:r>
              <a:t>• Defect Injection (Build #2): Injected UI form assertion defect.</a:t>
            </a:r>
          </a:p>
          <a:p>
            <a:pPr>
              <a:spcBef>
                <a:spcPts val="400"/>
              </a:spcBef>
              <a:defRPr sz="1100">
                <a:solidFill>
                  <a:srgbClr val="1E293B"/>
                </a:solidFill>
              </a:defRPr>
            </a:pPr>
            <a:r>
              <a:t>• Blockade Outcome: Selenium caught failure in 88.2s; pipeline halted.</a:t>
            </a:r>
          </a:p>
          <a:p>
            <a:pPr>
              <a:spcBef>
                <a:spcPts val="400"/>
              </a:spcBef>
              <a:defRPr sz="1100">
                <a:solidFill>
                  <a:srgbClr val="1E293B"/>
                </a:solidFill>
              </a:defRPr>
            </a:pPr>
            <a:r>
              <a:t>• Production Protection: Docker build and Ansible deploy stages were SKIPPED.</a:t>
            </a:r>
          </a:p>
          <a:p>
            <a:pPr>
              <a:spcBef>
                <a:spcPts val="400"/>
              </a:spcBef>
              <a:defRPr sz="1100">
                <a:solidFill>
                  <a:srgbClr val="1E293B"/>
                </a:solidFill>
              </a:defRPr>
            </a:pPr>
            <a:r>
              <a:t>• Defect Remediation (Build #3): Fixed defect; pipeline succeeded and promoted.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2563EB"/>
                </a:solidFill>
              </a:defRPr>
            </a:pPr>
            <a:r>
              <a:t>CONSTRUCTION PROGRESS DASHBOARD — DEVOPS CAPSTONE</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1E293B"/>
                </a:solidFill>
              </a:defRPr>
            </a:pPr>
            <a:r>
              <a:t>Hardened Containerization: Multi-Stage Dockerfile &amp; Registry</a:t>
            </a:r>
          </a:p>
        </p:txBody>
      </p:sp>
      <p:sp>
        <p:nvSpPr>
          <p:cNvPr id="4" name="Rounded Rectangle 3"/>
          <p:cNvSpPr/>
          <p:nvPr/>
        </p:nvSpPr>
        <p:spPr>
          <a:xfrm>
            <a:off x="731520" y="1463040"/>
            <a:ext cx="512064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4754880" cy="4480560"/>
          </a:xfrm>
          <a:prstGeom prst="rect">
            <a:avLst/>
          </a:prstGeom>
          <a:noFill/>
        </p:spPr>
        <p:txBody>
          <a:bodyPr wrap="square">
            <a:spAutoFit/>
          </a:bodyPr>
          <a:lstStyle/>
          <a:p>
            <a:pPr>
              <a:defRPr sz="1400" b="1">
                <a:solidFill>
                  <a:srgbClr val="1E3A8A"/>
                </a:solidFill>
              </a:defRPr>
            </a:pPr>
            <a:r>
              <a:t>Multi-Stage Dockerfile Design</a:t>
            </a:r>
          </a:p>
          <a:p>
            <a:pPr>
              <a:spcBef>
                <a:spcPts val="400"/>
              </a:spcBef>
              <a:defRPr sz="1100">
                <a:solidFill>
                  <a:srgbClr val="1E293B"/>
                </a:solidFill>
              </a:defRPr>
            </a:pPr>
            <a:r>
              <a:t>• Stage 1 (Builder): maven:3.9-eclipse-temurin-17 packages the application.</a:t>
            </a:r>
          </a:p>
          <a:p>
            <a:pPr>
              <a:spcBef>
                <a:spcPts val="400"/>
              </a:spcBef>
              <a:defRPr sz="1100">
                <a:solidFill>
                  <a:srgbClr val="1E293B"/>
                </a:solidFill>
              </a:defRPr>
            </a:pPr>
            <a:r>
              <a:t>• Stage 2 (Runtime): eclipse-temurin:17-jre-jammy minimal runtime image.</a:t>
            </a:r>
          </a:p>
          <a:p>
            <a:pPr>
              <a:spcBef>
                <a:spcPts val="400"/>
              </a:spcBef>
              <a:defRPr sz="1100">
                <a:solidFill>
                  <a:srgbClr val="1E293B"/>
                </a:solidFill>
              </a:defRPr>
            </a:pPr>
            <a:r>
              <a:t>• Layer Caching: pom.xml dependencies copied first; cuts rebuilds to 8.4s.</a:t>
            </a:r>
          </a:p>
          <a:p>
            <a:pPr>
              <a:spcBef>
                <a:spcPts val="400"/>
              </a:spcBef>
              <a:defRPr sz="1100">
                <a:solidFill>
                  <a:srgbClr val="1E293B"/>
                </a:solidFill>
              </a:defRPr>
            </a:pPr>
            <a:r>
              <a:t>• Least Privilege: Dedicated unprivileged user appuser (UID 10001).</a:t>
            </a:r>
          </a:p>
          <a:p>
            <a:pPr>
              <a:spcBef>
                <a:spcPts val="400"/>
              </a:spcBef>
              <a:defRPr sz="1100">
                <a:solidFill>
                  <a:srgbClr val="1E293B"/>
                </a:solidFill>
              </a:defRPr>
            </a:pPr>
            <a:r>
              <a:t>• Healthcheck: Built-in Docker HEALTHCHECK probe on http://localhost:8080/health.</a:t>
            </a:r>
          </a:p>
          <a:p>
            <a:pPr>
              <a:spcBef>
                <a:spcPts val="400"/>
              </a:spcBef>
              <a:defRPr sz="1100">
                <a:solidFill>
                  <a:srgbClr val="1E293B"/>
                </a:solidFill>
              </a:defRPr>
            </a:pPr>
            <a:r>
              <a:t>• Network Mapping: Published on host port 8082 -&gt; container port 8080.</a:t>
            </a:r>
          </a:p>
        </p:txBody>
      </p:sp>
      <p:sp>
        <p:nvSpPr>
          <p:cNvPr id="6" name="Rounded Rectangle 5"/>
          <p:cNvSpPr/>
          <p:nvPr/>
        </p:nvSpPr>
        <p:spPr>
          <a:xfrm>
            <a:off x="6217920" y="1463040"/>
            <a:ext cx="5120640" cy="475488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600200"/>
            <a:ext cx="4754880" cy="4480560"/>
          </a:xfrm>
          <a:prstGeom prst="rect">
            <a:avLst/>
          </a:prstGeom>
          <a:noFill/>
        </p:spPr>
        <p:txBody>
          <a:bodyPr wrap="square">
            <a:spAutoFit/>
          </a:bodyPr>
          <a:lstStyle/>
          <a:p>
            <a:pPr>
              <a:defRPr sz="1400" b="1">
                <a:solidFill>
                  <a:srgbClr val="2563EB"/>
                </a:solidFill>
              </a:defRPr>
            </a:pPr>
            <a:r>
              <a:t>Registry &amp; Image Lifecycle</a:t>
            </a:r>
          </a:p>
          <a:p>
            <a:pPr>
              <a:spcBef>
                <a:spcPts val="400"/>
              </a:spcBef>
              <a:defRPr sz="1100">
                <a:solidFill>
                  <a:srgbClr val="1E293B"/>
                </a:solidFill>
              </a:defRPr>
            </a:pPr>
            <a:r>
              <a:t>• Build Artifact: construction-dashboard:&lt;version&gt;-b&lt;build&gt;-&lt;sha&gt;.</a:t>
            </a:r>
          </a:p>
          <a:p>
            <a:pPr>
              <a:spcBef>
                <a:spcPts val="400"/>
              </a:spcBef>
              <a:defRPr sz="1100">
                <a:solidFill>
                  <a:srgbClr val="1E293B"/>
                </a:solidFill>
              </a:defRPr>
            </a:pPr>
            <a:r>
              <a:t>• Dual Tagging: Each push updates both unique build tag and :latest.</a:t>
            </a:r>
          </a:p>
          <a:p>
            <a:pPr>
              <a:spcBef>
                <a:spcPts val="400"/>
              </a:spcBef>
              <a:defRPr sz="1100">
                <a:solidFill>
                  <a:srgbClr val="1E293B"/>
                </a:solidFill>
              </a:defRPr>
            </a:pPr>
            <a:r>
              <a:t>• Promotion Strategy: Only deployed and verified images are tagged :stable.</a:t>
            </a:r>
          </a:p>
          <a:p>
            <a:pPr>
              <a:spcBef>
                <a:spcPts val="400"/>
              </a:spcBef>
              <a:defRPr sz="1100">
                <a:solidFill>
                  <a:srgbClr val="1E293B"/>
                </a:solidFill>
              </a:defRPr>
            </a:pPr>
            <a:r>
              <a:t>• Registry Distribution: Deployed via local distribution registry (port 5000) and Docker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2563EB"/>
                </a:solidFill>
              </a:defRPr>
            </a:pPr>
            <a:r>
              <a:t>CONSTRUCTION PROGRESS DASHBOARD — DEVOPS CAPSTONE</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1E293B"/>
                </a:solidFill>
              </a:defRPr>
            </a:pPr>
            <a:r>
              <a:t>Configuration Management: Modular Ansible Architecture &amp; Roles</a:t>
            </a:r>
          </a:p>
        </p:txBody>
      </p:sp>
      <p:sp>
        <p:nvSpPr>
          <p:cNvPr id="4" name="Rounded Rectangle 3"/>
          <p:cNvSpPr/>
          <p:nvPr/>
        </p:nvSpPr>
        <p:spPr>
          <a:xfrm>
            <a:off x="731520" y="1463040"/>
            <a:ext cx="512064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4754880" cy="4480560"/>
          </a:xfrm>
          <a:prstGeom prst="rect">
            <a:avLst/>
          </a:prstGeom>
          <a:noFill/>
        </p:spPr>
        <p:txBody>
          <a:bodyPr wrap="square">
            <a:spAutoFit/>
          </a:bodyPr>
          <a:lstStyle/>
          <a:p>
            <a:pPr>
              <a:defRPr sz="1400" b="1">
                <a:solidFill>
                  <a:srgbClr val="1E3A8A"/>
                </a:solidFill>
              </a:defRPr>
            </a:pPr>
            <a:r>
              <a:t>Ansible Role Hierarchy</a:t>
            </a:r>
          </a:p>
          <a:p>
            <a:pPr>
              <a:spcBef>
                <a:spcPts val="400"/>
              </a:spcBef>
              <a:defRPr sz="1100">
                <a:solidFill>
                  <a:srgbClr val="1E293B"/>
                </a:solidFill>
              </a:defRPr>
            </a:pPr>
            <a:r>
              <a:t>• common: System utilities, apt cache update, Asia/Kolkata timezone.</a:t>
            </a:r>
          </a:p>
          <a:p>
            <a:pPr>
              <a:spcBef>
                <a:spcPts val="400"/>
              </a:spcBef>
              <a:defRPr sz="1100">
                <a:solidFill>
                  <a:srgbClr val="1E293B"/>
                </a:solidFill>
              </a:defRPr>
            </a:pPr>
            <a:r>
              <a:t>• docker: Upstream Docker CE engine, daemon.json log rotation (10MB x 3).</a:t>
            </a:r>
          </a:p>
          <a:p>
            <a:pPr>
              <a:spcBef>
                <a:spcPts val="400"/>
              </a:spcBef>
              <a:defRPr sz="1100">
                <a:solidFill>
                  <a:srgbClr val="1E293B"/>
                </a:solidFill>
              </a:defRPr>
            </a:pPr>
            <a:r>
              <a:t>• app_user: Dedicated system user appdeploy with Docker group access.</a:t>
            </a:r>
          </a:p>
          <a:p>
            <a:pPr>
              <a:spcBef>
                <a:spcPts val="400"/>
              </a:spcBef>
              <a:defRPr sz="1100">
                <a:solidFill>
                  <a:srgbClr val="1E293B"/>
                </a:solidFill>
              </a:defRPr>
            </a:pPr>
            <a:r>
              <a:t>• app_dirs: Standard structure /opt/construction-dashboard/{config,logs,releases}.</a:t>
            </a:r>
          </a:p>
          <a:p>
            <a:pPr>
              <a:spcBef>
                <a:spcPts val="400"/>
              </a:spcBef>
              <a:defRPr sz="1100">
                <a:solidFill>
                  <a:srgbClr val="1E293B"/>
                </a:solidFill>
              </a:defRPr>
            </a:pPr>
            <a:r>
              <a:t>• firewall: UFW policy (default-deny inbound; allows port 22 and port 8082).</a:t>
            </a:r>
          </a:p>
          <a:p>
            <a:pPr>
              <a:spcBef>
                <a:spcPts val="400"/>
              </a:spcBef>
              <a:defRPr sz="1100">
                <a:solidFill>
                  <a:srgbClr val="1E293B"/>
                </a:solidFill>
              </a:defRPr>
            </a:pPr>
            <a:r>
              <a:t>• app_config: Deploys app.env (mode 0600) and systemd service unit.</a:t>
            </a:r>
          </a:p>
          <a:p>
            <a:pPr>
              <a:spcBef>
                <a:spcPts val="400"/>
              </a:spcBef>
              <a:defRPr sz="1100">
                <a:solidFill>
                  <a:srgbClr val="1E293B"/>
                </a:solidFill>
              </a:defRPr>
            </a:pPr>
            <a:r>
              <a:t>• deploy: Container pull, health polling, rollback, and release logging.</a:t>
            </a:r>
          </a:p>
        </p:txBody>
      </p:sp>
      <p:sp>
        <p:nvSpPr>
          <p:cNvPr id="6" name="Rounded Rectangle 5"/>
          <p:cNvSpPr/>
          <p:nvPr/>
        </p:nvSpPr>
        <p:spPr>
          <a:xfrm>
            <a:off x="6217920" y="1463040"/>
            <a:ext cx="5120640" cy="475488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600200"/>
            <a:ext cx="4754880" cy="4480560"/>
          </a:xfrm>
          <a:prstGeom prst="rect">
            <a:avLst/>
          </a:prstGeom>
          <a:noFill/>
        </p:spPr>
        <p:txBody>
          <a:bodyPr wrap="square">
            <a:spAutoFit/>
          </a:bodyPr>
          <a:lstStyle/>
          <a:p>
            <a:pPr>
              <a:defRPr sz="1400" b="1">
                <a:solidFill>
                  <a:srgbClr val="2563EB"/>
                </a:solidFill>
              </a:defRPr>
            </a:pPr>
            <a:r>
              <a:t>systemd Supervisor &amp; Host Hardening</a:t>
            </a:r>
          </a:p>
          <a:p>
            <a:pPr>
              <a:spcBef>
                <a:spcPts val="400"/>
              </a:spcBef>
              <a:defRPr sz="1100">
                <a:solidFill>
                  <a:srgbClr val="1E293B"/>
                </a:solidFill>
              </a:defRPr>
            </a:pPr>
            <a:r>
              <a:t>• Systemd Unit: construction-dashboard.service manages container lifecycle.</a:t>
            </a:r>
          </a:p>
          <a:p>
            <a:pPr>
              <a:spcBef>
                <a:spcPts val="400"/>
              </a:spcBef>
              <a:defRPr sz="1100">
                <a:solidFill>
                  <a:srgbClr val="1E293B"/>
                </a:solidFill>
              </a:defRPr>
            </a:pPr>
            <a:r>
              <a:t>• Auto-Restart: Restart=always recovers container if terminated unexpectedly.</a:t>
            </a:r>
          </a:p>
          <a:p>
            <a:pPr>
              <a:spcBef>
                <a:spcPts val="400"/>
              </a:spcBef>
              <a:defRPr sz="1100">
                <a:solidFill>
                  <a:srgbClr val="1E293B"/>
                </a:solidFill>
              </a:defRPr>
            </a:pPr>
            <a:r>
              <a:t>• File Permissions: App configs locked to 0750/0600 appdeploy:docker.</a:t>
            </a:r>
          </a:p>
          <a:p>
            <a:pPr>
              <a:spcBef>
                <a:spcPts val="400"/>
              </a:spcBef>
              <a:defRPr sz="1100">
                <a:solidFill>
                  <a:srgbClr val="1E293B"/>
                </a:solidFill>
              </a:defRPr>
            </a:pPr>
            <a:r>
              <a:t>• Standards Compliance: 0 errors in yamllint and passed strict ansible-lint production profile.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2563EB"/>
                </a:solidFill>
              </a:defRPr>
            </a:pPr>
            <a:r>
              <a:t>CONSTRUCTION PROGRESS DASHBOARD — DEVOPS CAPSTONE</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1E293B"/>
                </a:solidFill>
              </a:defRPr>
            </a:pPr>
            <a:r>
              <a:t>Production Reliability: Strict Idempotency &amp; Automated Rollback</a:t>
            </a:r>
          </a:p>
        </p:txBody>
      </p:sp>
      <p:sp>
        <p:nvSpPr>
          <p:cNvPr id="4" name="Rounded Rectangle 3"/>
          <p:cNvSpPr/>
          <p:nvPr/>
        </p:nvSpPr>
        <p:spPr>
          <a:xfrm>
            <a:off x="731520" y="1463040"/>
            <a:ext cx="512064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4754880" cy="4480560"/>
          </a:xfrm>
          <a:prstGeom prst="rect">
            <a:avLst/>
          </a:prstGeom>
          <a:noFill/>
        </p:spPr>
        <p:txBody>
          <a:bodyPr wrap="square">
            <a:spAutoFit/>
          </a:bodyPr>
          <a:lstStyle/>
          <a:p>
            <a:pPr>
              <a:defRPr sz="1400" b="1">
                <a:solidFill>
                  <a:srgbClr val="1E3A8A"/>
                </a:solidFill>
              </a:defRPr>
            </a:pPr>
            <a:r>
              <a:t>Strict Idempotency Demonstrated</a:t>
            </a:r>
          </a:p>
          <a:p>
            <a:pPr>
              <a:spcBef>
                <a:spcPts val="400"/>
              </a:spcBef>
              <a:defRPr sz="1100">
                <a:solidFill>
                  <a:srgbClr val="1E293B"/>
                </a:solidFill>
              </a:defRPr>
            </a:pPr>
            <a:r>
              <a:t>• Execution 1: Provisioned server prerequisites (changed=20).</a:t>
            </a:r>
          </a:p>
          <a:p>
            <a:pPr>
              <a:spcBef>
                <a:spcPts val="400"/>
              </a:spcBef>
              <a:defRPr sz="1100">
                <a:solidFill>
                  <a:srgbClr val="1E293B"/>
                </a:solidFill>
              </a:defRPr>
            </a:pPr>
            <a:r>
              <a:t>• Execution 2: Re-ran entire playbook with zero modifications.</a:t>
            </a:r>
          </a:p>
          <a:p>
            <a:pPr>
              <a:spcBef>
                <a:spcPts val="400"/>
              </a:spcBef>
              <a:defRPr sz="1100">
                <a:solidFill>
                  <a:srgbClr val="1E293B"/>
                </a:solidFill>
              </a:defRPr>
            </a:pPr>
            <a:r>
              <a:t>• Play Recap: ok=37 changed=0 unreachable=0 failed=0.</a:t>
            </a:r>
          </a:p>
          <a:p>
            <a:pPr>
              <a:spcBef>
                <a:spcPts val="400"/>
              </a:spcBef>
              <a:defRPr sz="1100">
                <a:solidFill>
                  <a:srgbClr val="1E293B"/>
                </a:solidFill>
              </a:defRPr>
            </a:pPr>
            <a:r>
              <a:t>• Significance: Proves infrastructure is declaratively defined without side-effects.</a:t>
            </a:r>
          </a:p>
          <a:p>
            <a:pPr>
              <a:spcBef>
                <a:spcPts val="400"/>
              </a:spcBef>
              <a:defRPr sz="1100">
                <a:solidFill>
                  <a:srgbClr val="1E293B"/>
                </a:solidFill>
              </a:defRPr>
            </a:pPr>
            <a:r>
              <a:t>• Drift Reconciliation: Deliberate manual drift automatically corrected by Ansible.</a:t>
            </a:r>
          </a:p>
        </p:txBody>
      </p:sp>
      <p:sp>
        <p:nvSpPr>
          <p:cNvPr id="6" name="Rounded Rectangle 5"/>
          <p:cNvSpPr/>
          <p:nvPr/>
        </p:nvSpPr>
        <p:spPr>
          <a:xfrm>
            <a:off x="6217920" y="1463040"/>
            <a:ext cx="5120640" cy="475488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600200"/>
            <a:ext cx="4754880" cy="4480560"/>
          </a:xfrm>
          <a:prstGeom prst="rect">
            <a:avLst/>
          </a:prstGeom>
          <a:noFill/>
        </p:spPr>
        <p:txBody>
          <a:bodyPr wrap="square">
            <a:spAutoFit/>
          </a:bodyPr>
          <a:lstStyle/>
          <a:p>
            <a:pPr>
              <a:defRPr sz="1400" b="1">
                <a:solidFill>
                  <a:srgbClr val="2563EB"/>
                </a:solidFill>
              </a:defRPr>
            </a:pPr>
            <a:r>
              <a:t>Health Gates &amp; Atomic Auto-Rollback</a:t>
            </a:r>
          </a:p>
          <a:p>
            <a:pPr>
              <a:spcBef>
                <a:spcPts val="400"/>
              </a:spcBef>
              <a:defRPr sz="1100">
                <a:solidFill>
                  <a:srgbClr val="1E293B"/>
                </a:solidFill>
              </a:defRPr>
            </a:pPr>
            <a:r>
              <a:t>• Architecture: deploy role implements an Ansible block / rescue construct.</a:t>
            </a:r>
          </a:p>
          <a:p>
            <a:pPr>
              <a:spcBef>
                <a:spcPts val="400"/>
              </a:spcBef>
              <a:defRPr sz="1100">
                <a:solidFill>
                  <a:srgbClr val="1E293B"/>
                </a:solidFill>
              </a:defRPr>
            </a:pPr>
            <a:r>
              <a:t>• Health Polling: Polls /health every 5s for up to 25 retries (125s max).</a:t>
            </a:r>
          </a:p>
          <a:p>
            <a:pPr>
              <a:spcBef>
                <a:spcPts val="400"/>
              </a:spcBef>
              <a:defRPr sz="1100">
                <a:solidFill>
                  <a:srgbClr val="1E293B"/>
                </a:solidFill>
              </a:defRPr>
            </a:pPr>
            <a:r>
              <a:t>• Failure Scenario: Deployed broken-demo image with misconfigured port.</a:t>
            </a:r>
          </a:p>
          <a:p>
            <a:pPr>
              <a:spcBef>
                <a:spcPts val="400"/>
              </a:spcBef>
              <a:defRPr sz="1100">
                <a:solidFill>
                  <a:srgbClr val="1E293B"/>
                </a:solidFill>
              </a:defRPr>
            </a:pPr>
            <a:r>
              <a:t>• Rollback Action: Rescue caught failure, reverted to previous.txt, restarted container.</a:t>
            </a:r>
          </a:p>
          <a:p>
            <a:pPr>
              <a:spcBef>
                <a:spcPts val="400"/>
              </a:spcBef>
              <a:defRPr sz="1100">
                <a:solidFill>
                  <a:srgbClr val="1E293B"/>
                </a:solidFill>
              </a:defRPr>
            </a:pPr>
            <a:r>
              <a:t>• Restoration Time: Service restored in &lt; 48s; audit logged to history.log.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2563EB"/>
                </a:solidFill>
              </a:defRPr>
            </a:pPr>
            <a:r>
              <a:t>CONSTRUCTION PROGRESS DASHBOARD — DEVOPS CAPSTONE</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1E293B"/>
                </a:solidFill>
              </a:defRPr>
            </a:pPr>
            <a:r>
              <a:t>Empirical Results: Full Pipeline Timeline &amp; Performance Metrics</a:t>
            </a:r>
          </a:p>
        </p:txBody>
      </p:sp>
      <p:sp>
        <p:nvSpPr>
          <p:cNvPr id="4" name="Rounded Rectangle 3"/>
          <p:cNvSpPr/>
          <p:nvPr/>
        </p:nvSpPr>
        <p:spPr>
          <a:xfrm>
            <a:off x="731520" y="1463040"/>
            <a:ext cx="5120640" cy="475488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4754880" cy="4480560"/>
          </a:xfrm>
          <a:prstGeom prst="rect">
            <a:avLst/>
          </a:prstGeom>
          <a:noFill/>
        </p:spPr>
        <p:txBody>
          <a:bodyPr wrap="square">
            <a:spAutoFit/>
          </a:bodyPr>
          <a:lstStyle/>
          <a:p>
            <a:pPr>
              <a:defRPr sz="1400" b="1">
                <a:solidFill>
                  <a:srgbClr val="2563EB"/>
                </a:solidFill>
              </a:defRPr>
            </a:pPr>
            <a:r>
              <a:t>Final Build #3 Timeline Breakdown</a:t>
            </a:r>
          </a:p>
          <a:p>
            <a:pPr>
              <a:spcBef>
                <a:spcPts val="400"/>
              </a:spcBef>
              <a:defRPr sz="1100">
                <a:solidFill>
                  <a:srgbClr val="1E293B"/>
                </a:solidFill>
              </a:defRPr>
            </a:pPr>
            <a:r>
              <a:t>• Source Compilation (Maven): 5.4 seconds (30 Java classes).</a:t>
            </a:r>
          </a:p>
          <a:p>
            <a:pPr>
              <a:spcBef>
                <a:spcPts val="400"/>
              </a:spcBef>
              <a:defRPr sz="1100">
                <a:solidFill>
                  <a:srgbClr val="1E293B"/>
                </a:solidFill>
              </a:defRPr>
            </a:pPr>
            <a:r>
              <a:t>• Unit &amp; Integration Tests: 18.8 seconds (58 test cases, 0 failures).</a:t>
            </a:r>
          </a:p>
          <a:p>
            <a:pPr>
              <a:spcBef>
                <a:spcPts val="400"/>
              </a:spcBef>
              <a:defRPr sz="1100">
                <a:solidFill>
                  <a:srgbClr val="1E293B"/>
                </a:solidFill>
              </a:defRPr>
            </a:pPr>
            <a:r>
              <a:t>• WAR Packaging: 5.6 seconds (53.84 MB artifact).</a:t>
            </a:r>
          </a:p>
          <a:p>
            <a:pPr>
              <a:spcBef>
                <a:spcPts val="400"/>
              </a:spcBef>
              <a:defRPr sz="1100">
                <a:solidFill>
                  <a:srgbClr val="1E293B"/>
                </a:solidFill>
              </a:defRPr>
            </a:pPr>
            <a:r>
              <a:t>• Headless Selenium Quality Gate: 88.2 seconds (3 full journeys).</a:t>
            </a:r>
          </a:p>
          <a:p>
            <a:pPr>
              <a:spcBef>
                <a:spcPts val="400"/>
              </a:spcBef>
              <a:defRPr sz="1100">
                <a:solidFill>
                  <a:srgbClr val="1E293B"/>
                </a:solidFill>
              </a:defRPr>
            </a:pPr>
            <a:r>
              <a:t>• Docker Build &amp; Push: 11.5 seconds (multi-stage cached build).</a:t>
            </a:r>
          </a:p>
          <a:p>
            <a:pPr>
              <a:spcBef>
                <a:spcPts val="400"/>
              </a:spcBef>
              <a:defRPr sz="1100">
                <a:solidFill>
                  <a:srgbClr val="1E293B"/>
                </a:solidFill>
              </a:defRPr>
            </a:pPr>
            <a:r>
              <a:t>• Ansible Provision &amp; Deploy: 76.2 seconds (remote node swap).</a:t>
            </a:r>
          </a:p>
          <a:p>
            <a:pPr>
              <a:spcBef>
                <a:spcPts val="400"/>
              </a:spcBef>
              <a:defRPr sz="1100">
                <a:solidFill>
                  <a:srgbClr val="1E293B"/>
                </a:solidFill>
              </a:defRPr>
            </a:pPr>
            <a:r>
              <a:t>• Node Verification &amp; Promotion: 8.7 seconds (health check &amp; promote :stable).</a:t>
            </a:r>
          </a:p>
          <a:p>
            <a:pPr>
              <a:spcBef>
                <a:spcPts val="400"/>
              </a:spcBef>
              <a:defRPr sz="1100">
                <a:solidFill>
                  <a:srgbClr val="1E293B"/>
                </a:solidFill>
              </a:defRPr>
            </a:pPr>
            <a:r>
              <a:t>• Total End-to-End Lead Time: 3 minutes, 35 seconds.</a:t>
            </a:r>
          </a:p>
        </p:txBody>
      </p:sp>
      <p:sp>
        <p:nvSpPr>
          <p:cNvPr id="6" name="Rounded Rectangle 5"/>
          <p:cNvSpPr/>
          <p:nvPr/>
        </p:nvSpPr>
        <p:spPr>
          <a:xfrm>
            <a:off x="6217920" y="1463040"/>
            <a:ext cx="512064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600200"/>
            <a:ext cx="4754880" cy="4480560"/>
          </a:xfrm>
          <a:prstGeom prst="rect">
            <a:avLst/>
          </a:prstGeom>
          <a:noFill/>
        </p:spPr>
        <p:txBody>
          <a:bodyPr wrap="square">
            <a:spAutoFit/>
          </a:bodyPr>
          <a:lstStyle/>
          <a:p>
            <a:pPr>
              <a:defRPr sz="1400" b="1">
                <a:solidFill>
                  <a:srgbClr val="1E3A8A"/>
                </a:solidFill>
              </a:defRPr>
            </a:pPr>
            <a:r>
              <a:t>System Availability &amp; Recovery Metrics</a:t>
            </a:r>
          </a:p>
          <a:p>
            <a:pPr>
              <a:spcBef>
                <a:spcPts val="400"/>
              </a:spcBef>
              <a:defRPr sz="1100">
                <a:solidFill>
                  <a:srgbClr val="1E293B"/>
                </a:solidFill>
              </a:defRPr>
            </a:pPr>
            <a:r>
              <a:t>• Container Crash Recovery (systemd): 17 seconds downtime.</a:t>
            </a:r>
          </a:p>
          <a:p>
            <a:pPr>
              <a:spcBef>
                <a:spcPts val="400"/>
              </a:spcBef>
              <a:defRPr sz="1100">
                <a:solidFill>
                  <a:srgbClr val="1E293B"/>
                </a:solidFill>
              </a:defRPr>
            </a:pPr>
            <a:r>
              <a:t>• Target Node Reboot Recovery: 22 seconds to application availability.</a:t>
            </a:r>
          </a:p>
          <a:p>
            <a:pPr>
              <a:spcBef>
                <a:spcPts val="400"/>
              </a:spcBef>
              <a:defRPr sz="1100">
                <a:solidFill>
                  <a:srgbClr val="1E293B"/>
                </a:solidFill>
              </a:defRPr>
            </a:pPr>
            <a:r>
              <a:t>• Automated Rollback Latency: &lt; 48 seconds from failure detection.</a:t>
            </a:r>
          </a:p>
          <a:p>
            <a:pPr>
              <a:spcBef>
                <a:spcPts val="400"/>
              </a:spcBef>
              <a:defRPr sz="1100">
                <a:solidFill>
                  <a:srgbClr val="1E293B"/>
                </a:solidFill>
              </a:defRPr>
            </a:pPr>
            <a:r>
              <a:t>• Idempotency Metric: changed=0 across all 37 evaluation tasks.</a:t>
            </a:r>
          </a:p>
          <a:p>
            <a:pPr>
              <a:spcBef>
                <a:spcPts val="400"/>
              </a:spcBef>
              <a:defRPr sz="1100">
                <a:solidFill>
                  <a:srgbClr val="1E293B"/>
                </a:solidFill>
              </a:defRPr>
            </a:pPr>
            <a:r>
              <a:t>• Total Releases Published: v1.0.0 (MVP) and v1.1.0 (Final DevOps).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2563EB"/>
                </a:solidFill>
              </a:defRPr>
            </a:pPr>
            <a:r>
              <a:t>CONSTRUCTION PROGRESS DASHBOARD — DEVOPS CAPSTONE</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1E293B"/>
                </a:solidFill>
              </a:defRPr>
            </a:pPr>
            <a:r>
              <a:t>Operational Challenges Overcome &amp; Engineering Lessons</a:t>
            </a:r>
          </a:p>
        </p:txBody>
      </p:sp>
      <p:sp>
        <p:nvSpPr>
          <p:cNvPr id="4" name="Rounded Rectangle 3"/>
          <p:cNvSpPr/>
          <p:nvPr/>
        </p:nvSpPr>
        <p:spPr>
          <a:xfrm>
            <a:off x="731520" y="1463040"/>
            <a:ext cx="512064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4754880" cy="4480560"/>
          </a:xfrm>
          <a:prstGeom prst="rect">
            <a:avLst/>
          </a:prstGeom>
          <a:noFill/>
        </p:spPr>
        <p:txBody>
          <a:bodyPr wrap="square">
            <a:spAutoFit/>
          </a:bodyPr>
          <a:lstStyle/>
          <a:p>
            <a:pPr>
              <a:defRPr sz="1400" b="1">
                <a:solidFill>
                  <a:srgbClr val="1E3A8A"/>
                </a:solidFill>
              </a:defRPr>
            </a:pPr>
            <a:r>
              <a:t>Real Troubleshooting Challenges</a:t>
            </a:r>
          </a:p>
          <a:p>
            <a:pPr>
              <a:spcBef>
                <a:spcPts val="400"/>
              </a:spcBef>
              <a:defRPr sz="1100">
                <a:solidFill>
                  <a:srgbClr val="1E293B"/>
                </a:solidFill>
              </a:defRPr>
            </a:pPr>
            <a:r>
              <a:t>• Parallel Merge Conflicts: Resolved navbar conflicts in Week 6 via manual union.</a:t>
            </a:r>
          </a:p>
          <a:p>
            <a:pPr>
              <a:spcBef>
                <a:spcPts val="400"/>
              </a:spcBef>
              <a:defRPr sz="1100">
                <a:solidFill>
                  <a:srgbClr val="1E293B"/>
                </a:solidFill>
              </a:defRPr>
            </a:pPr>
            <a:r>
              <a:t>• Spring Security Health Probes: Allowed unauthenticated /health access.</a:t>
            </a:r>
          </a:p>
          <a:p>
            <a:pPr>
              <a:spcBef>
                <a:spcPts val="400"/>
              </a:spcBef>
              <a:defRPr sz="1100">
                <a:solidFill>
                  <a:srgbClr val="1E293B"/>
                </a:solidFill>
              </a:defRPr>
            </a:pPr>
            <a:r>
              <a:t>• Headless Chrome CI Crashes: Added --no-sandbox &amp; --disable-dev-shm-usage.</a:t>
            </a:r>
          </a:p>
          <a:p>
            <a:pPr>
              <a:spcBef>
                <a:spcPts val="400"/>
              </a:spcBef>
              <a:defRPr sz="1100">
                <a:solidFill>
                  <a:srgbClr val="1E293B"/>
                </a:solidFill>
              </a:defRPr>
            </a:pPr>
            <a:r>
              <a:t>• Docker Non-Root Permissions: Added --chown=appuser:appgroup in Dockerfile.</a:t>
            </a:r>
          </a:p>
          <a:p>
            <a:pPr>
              <a:spcBef>
                <a:spcPts val="400"/>
              </a:spcBef>
              <a:defRPr sz="1100">
                <a:solidFill>
                  <a:srgbClr val="1E293B"/>
                </a:solidFill>
              </a:defRPr>
            </a:pPr>
            <a:r>
              <a:t>• Windows Jenkins Daemon Access: Configured Docker TCP daemon on port 2375.</a:t>
            </a:r>
          </a:p>
          <a:p>
            <a:pPr>
              <a:spcBef>
                <a:spcPts val="400"/>
              </a:spcBef>
              <a:defRPr sz="1100">
                <a:solidFill>
                  <a:srgbClr val="1E293B"/>
                </a:solidFill>
              </a:defRPr>
            </a:pPr>
            <a:r>
              <a:t>• Firewall Lockout Guard: Explicitly permitted SSH port 22 before enabling UFW.</a:t>
            </a:r>
          </a:p>
        </p:txBody>
      </p:sp>
      <p:sp>
        <p:nvSpPr>
          <p:cNvPr id="6" name="Rounded Rectangle 5"/>
          <p:cNvSpPr/>
          <p:nvPr/>
        </p:nvSpPr>
        <p:spPr>
          <a:xfrm>
            <a:off x="6217920" y="1463040"/>
            <a:ext cx="5120640" cy="475488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600200"/>
            <a:ext cx="4754880" cy="4480560"/>
          </a:xfrm>
          <a:prstGeom prst="rect">
            <a:avLst/>
          </a:prstGeom>
          <a:noFill/>
        </p:spPr>
        <p:txBody>
          <a:bodyPr wrap="square">
            <a:spAutoFit/>
          </a:bodyPr>
          <a:lstStyle/>
          <a:p>
            <a:pPr>
              <a:defRPr sz="1400" b="1">
                <a:solidFill>
                  <a:srgbClr val="2563EB"/>
                </a:solidFill>
              </a:defRPr>
            </a:pPr>
            <a:r>
              <a:t>Core DevOps Lessons Learned</a:t>
            </a:r>
          </a:p>
          <a:p>
            <a:pPr>
              <a:spcBef>
                <a:spcPts val="400"/>
              </a:spcBef>
              <a:defRPr sz="1100">
                <a:solidFill>
                  <a:srgbClr val="1E293B"/>
                </a:solidFill>
              </a:defRPr>
            </a:pPr>
            <a:r>
              <a:t>• Fast Feedback is Vital: Separate unit tests from slow browser tests with Maven profiles.</a:t>
            </a:r>
          </a:p>
          <a:p>
            <a:pPr>
              <a:spcBef>
                <a:spcPts val="400"/>
              </a:spcBef>
              <a:defRPr sz="1100">
                <a:solidFill>
                  <a:srgbClr val="1E293B"/>
                </a:solidFill>
              </a:defRPr>
            </a:pPr>
            <a:r>
              <a:t>• Automated Quality Gates Work: Selenium prevents defect leakage before artifact push.</a:t>
            </a:r>
          </a:p>
          <a:p>
            <a:pPr>
              <a:spcBef>
                <a:spcPts val="400"/>
              </a:spcBef>
              <a:defRPr sz="1100">
                <a:solidFill>
                  <a:srgbClr val="1E293B"/>
                </a:solidFill>
              </a:defRPr>
            </a:pPr>
            <a:r>
              <a:t>• Idempotency Prevents Drift: Declarative Ansible eliminates 'works on my machine'.</a:t>
            </a:r>
          </a:p>
          <a:p>
            <a:pPr>
              <a:spcBef>
                <a:spcPts val="400"/>
              </a:spcBef>
              <a:defRPr sz="1100">
                <a:solidFill>
                  <a:srgbClr val="1E293B"/>
                </a:solidFill>
              </a:defRPr>
            </a:pPr>
            <a:r>
              <a:t>• Resilience Must Be Automated: systemd + block/rescue rollback guarantees uptime.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2563EB"/>
                </a:solidFill>
              </a:defRPr>
            </a:pPr>
            <a:r>
              <a:t>CONSTRUCTION PROGRESS DASHBOARD — DEVOPS CAPSTONE</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1E293B"/>
                </a:solidFill>
              </a:defRPr>
            </a:pPr>
            <a:r>
              <a:t>System Limitations, Future Roadmap &amp; Project Deliverables</a:t>
            </a:r>
          </a:p>
        </p:txBody>
      </p:sp>
      <p:sp>
        <p:nvSpPr>
          <p:cNvPr id="4" name="Rounded Rectangle 3"/>
          <p:cNvSpPr/>
          <p:nvPr/>
        </p:nvSpPr>
        <p:spPr>
          <a:xfrm>
            <a:off x="731520" y="1463040"/>
            <a:ext cx="512064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4754880" cy="4480560"/>
          </a:xfrm>
          <a:prstGeom prst="rect">
            <a:avLst/>
          </a:prstGeom>
          <a:noFill/>
        </p:spPr>
        <p:txBody>
          <a:bodyPr wrap="square">
            <a:spAutoFit/>
          </a:bodyPr>
          <a:lstStyle/>
          <a:p>
            <a:pPr>
              <a:defRPr sz="1400" b="1">
                <a:solidFill>
                  <a:srgbClr val="1E3A8A"/>
                </a:solidFill>
              </a:defRPr>
            </a:pPr>
            <a:r>
              <a:t>Current Limitations &amp; Future Roadmap</a:t>
            </a:r>
          </a:p>
          <a:p>
            <a:pPr>
              <a:spcBef>
                <a:spcPts val="400"/>
              </a:spcBef>
              <a:defRPr sz="1100">
                <a:solidFill>
                  <a:srgbClr val="1E293B"/>
                </a:solidFill>
              </a:defRPr>
            </a:pPr>
            <a:r>
              <a:t>• Database Persistence: Migrate in-memory H2 to PostgreSQL with Liquibase (P0).</a:t>
            </a:r>
          </a:p>
          <a:p>
            <a:pPr>
              <a:spcBef>
                <a:spcPts val="400"/>
              </a:spcBef>
              <a:defRPr sz="1100">
                <a:solidFill>
                  <a:srgbClr val="1E293B"/>
                </a:solidFill>
              </a:defRPr>
            </a:pPr>
            <a:r>
              <a:t>• Transport Security: Deploy Nginx reverse proxy with Let's Encrypt TLS 1.3 (P0).</a:t>
            </a:r>
          </a:p>
          <a:p>
            <a:pPr>
              <a:spcBef>
                <a:spcPts val="400"/>
              </a:spcBef>
              <a:defRPr sz="1100">
                <a:solidFill>
                  <a:srgbClr val="1E293B"/>
                </a:solidFill>
              </a:defRPr>
            </a:pPr>
            <a:r>
              <a:t>• Secrets Management: Encrypt configs using Ansible Vault and HashiCorp Vault (P0).</a:t>
            </a:r>
          </a:p>
          <a:p>
            <a:pPr>
              <a:spcBef>
                <a:spcPts val="400"/>
              </a:spcBef>
              <a:defRPr sz="1100">
                <a:solidFill>
                  <a:srgbClr val="1E293B"/>
                </a:solidFill>
              </a:defRPr>
            </a:pPr>
            <a:r>
              <a:t>• Production Telemetry: Prometheus metric scraping and Grafana dashboards (P1).</a:t>
            </a:r>
          </a:p>
          <a:p>
            <a:pPr>
              <a:spcBef>
                <a:spcPts val="400"/>
              </a:spcBef>
              <a:defRPr sz="1100">
                <a:solidFill>
                  <a:srgbClr val="1E293B"/>
                </a:solidFill>
              </a:defRPr>
            </a:pPr>
            <a:r>
              <a:t>• Orchestration: Kubernetes (K3s) deployment with Horizontal Pod Autoscaling (P2).</a:t>
            </a:r>
          </a:p>
        </p:txBody>
      </p:sp>
      <p:sp>
        <p:nvSpPr>
          <p:cNvPr id="6" name="Rounded Rectangle 5"/>
          <p:cNvSpPr/>
          <p:nvPr/>
        </p:nvSpPr>
        <p:spPr>
          <a:xfrm>
            <a:off x="6217920" y="1463040"/>
            <a:ext cx="5120640" cy="475488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600200"/>
            <a:ext cx="4754880" cy="4480560"/>
          </a:xfrm>
          <a:prstGeom prst="rect">
            <a:avLst/>
          </a:prstGeom>
          <a:noFill/>
        </p:spPr>
        <p:txBody>
          <a:bodyPr wrap="square">
            <a:spAutoFit/>
          </a:bodyPr>
          <a:lstStyle/>
          <a:p>
            <a:pPr>
              <a:defRPr sz="1400" b="1">
                <a:solidFill>
                  <a:srgbClr val="2563EB"/>
                </a:solidFill>
              </a:defRPr>
            </a:pPr>
            <a:r>
              <a:t>Final Deliverables &amp; Repository Links</a:t>
            </a:r>
          </a:p>
          <a:p>
            <a:pPr>
              <a:spcBef>
                <a:spcPts val="400"/>
              </a:spcBef>
              <a:defRPr sz="1100">
                <a:solidFill>
                  <a:srgbClr val="1E293B"/>
                </a:solidFill>
              </a:defRPr>
            </a:pPr>
            <a:r>
              <a:t>• GitHub Repository: ganesh-dahiphale/construction_project_dashboard.</a:t>
            </a:r>
          </a:p>
          <a:p>
            <a:pPr>
              <a:spcBef>
                <a:spcPts val="400"/>
              </a:spcBef>
              <a:defRPr sz="1100">
                <a:solidFill>
                  <a:srgbClr val="1E293B"/>
                </a:solidFill>
              </a:defRPr>
            </a:pPr>
            <a:r>
              <a:t>• Production Releases: v1.0.0 (MVP) and v1.1.0 (End-to-End DevOps).</a:t>
            </a:r>
          </a:p>
          <a:p>
            <a:pPr>
              <a:spcBef>
                <a:spcPts val="400"/>
              </a:spcBef>
              <a:defRPr sz="1100">
                <a:solidFill>
                  <a:srgbClr val="1E293B"/>
                </a:solidFill>
              </a:defRPr>
            </a:pPr>
            <a:r>
              <a:t>• Full Documentation: ARCHITECTURE, TROUBLESHOOTING, DEMO_SCRIPT, VIVA_PREP.</a:t>
            </a:r>
          </a:p>
          <a:p>
            <a:pPr>
              <a:spcBef>
                <a:spcPts val="400"/>
              </a:spcBef>
              <a:defRPr sz="1100">
                <a:solidFill>
                  <a:srgbClr val="1E293B"/>
                </a:solidFill>
              </a:defRPr>
            </a:pPr>
            <a:r>
              <a:t>• Master Evidence Matrix: docs/EVIDENCE_INDEX.md linking all weekly logs.</a:t>
            </a:r>
          </a:p>
          <a:p>
            <a:pPr>
              <a:spcBef>
                <a:spcPts val="400"/>
              </a:spcBef>
              <a:defRPr sz="1100">
                <a:solidFill>
                  <a:srgbClr val="1E293B"/>
                </a:solidFill>
              </a:defRPr>
            </a:pPr>
            <a:r>
              <a:t>• Thank You! Ready for questions and live demonstration.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